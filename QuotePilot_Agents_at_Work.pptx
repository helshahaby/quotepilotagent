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c7a47ba8e64130" /><Relationship Type="http://schemas.openxmlformats.org/officeDocument/2006/relationships/extended-properties" Target="/docProps/app.xml" Id="R795c64673e6d4eab" /><Relationship Type="http://schemas.openxmlformats.org/officeDocument/2006/relationships/officeDocument" Target="/ppt/presentation.xml" Id="R59996772dd5f424e" /></Relationships>
</file>

<file path=ppt/presentation.xml><?xml version="1.0" encoding="utf-8"?>
<p:presentation xmlns:p="http://schemas.openxmlformats.org/presentationml/2006/main">
  <p:sldMasterIdLst>
    <p:sldMasterId xmlns:r="http://schemas.openxmlformats.org/officeDocument/2006/relationships" id="2147483648" r:id="R18177d864009480c"/>
  </p:sldMasterIdLst>
  <p:notesMasterIdLst>
    <p:notesMasterId xmlns:r="http://schemas.openxmlformats.org/officeDocument/2006/relationships" r:id="R9801fa0480c546ce"/>
  </p:notesMasterIdLst>
  <p:sldIdLst>
    <p:sldId xmlns:r="http://schemas.openxmlformats.org/officeDocument/2006/relationships" id="256" r:id="R2f3029e6002e43d0"/>
    <p:sldId xmlns:r="http://schemas.openxmlformats.org/officeDocument/2006/relationships" id="257" r:id="Rdbac1c9c92c14b94"/>
    <p:sldId xmlns:r="http://schemas.openxmlformats.org/officeDocument/2006/relationships" id="258" r:id="Rd6fc2b3416864c6a"/>
    <p:sldId xmlns:r="http://schemas.openxmlformats.org/officeDocument/2006/relationships" id="259" r:id="Rd3acf18715ad4558"/>
    <p:sldId xmlns:r="http://schemas.openxmlformats.org/officeDocument/2006/relationships" id="260" r:id="R5929e40812d14b92"/>
    <p:sldId xmlns:r="http://schemas.openxmlformats.org/officeDocument/2006/relationships" id="261" r:id="R1a234ed53bfa413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dd55a6e0a44cba" /><Relationship Type="http://schemas.openxmlformats.org/officeDocument/2006/relationships/slideMaster" Target="/ppt/slideMasters/slideMaster1.xml" Id="R18177d864009480c" /><Relationship Type="http://schemas.openxmlformats.org/officeDocument/2006/relationships/notesMaster" Target="/ppt/notesMasters/notesMaster1.xml" Id="R9801fa0480c546ce" /><Relationship Type="http://schemas.openxmlformats.org/officeDocument/2006/relationships/presProps" Target="/ppt/presProps.xml" Id="R8fddd5690169419e" /><Relationship Type="http://schemas.openxmlformats.org/officeDocument/2006/relationships/tableStyles" Target="/ppt/tableStyles.xml" Id="Reaafd8f4f03e455d" /><Relationship Type="http://schemas.openxmlformats.org/officeDocument/2006/relationships/slide" Target="/ppt/slides/slide1.xml" Id="R2f3029e6002e43d0" /><Relationship Type="http://schemas.openxmlformats.org/officeDocument/2006/relationships/slide" Target="/ppt/slides/slide2.xml" Id="Rdbac1c9c92c14b94" /><Relationship Type="http://schemas.openxmlformats.org/officeDocument/2006/relationships/slide" Target="/ppt/slides/slide3.xml" Id="Rd6fc2b3416864c6a" /><Relationship Type="http://schemas.openxmlformats.org/officeDocument/2006/relationships/slide" Target="/ppt/slides/slide4.xml" Id="Rd3acf18715ad4558" /><Relationship Type="http://schemas.openxmlformats.org/officeDocument/2006/relationships/slide" Target="/ppt/slides/slide5.xml" Id="R5929e40812d14b92" /><Relationship Type="http://schemas.openxmlformats.org/officeDocument/2006/relationships/slide" Target="/ppt/slides/slide6.xml" Id="R1a234ed53bfa41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714aff2dd145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e442b5e65e4d4e" /><Relationship Type="http://schemas.openxmlformats.org/officeDocument/2006/relationships/notesMaster" Target="/ppt/notesMasters/notesMaster1.xml" Id="R7b94157de06a47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2af0468846c4439" /><Relationship Type="http://schemas.openxmlformats.org/officeDocument/2006/relationships/notesMaster" Target="/ppt/notesMasters/notesMaster1.xml" Id="R33fbf09abf7b40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4469bd8ae1494b" /><Relationship Type="http://schemas.openxmlformats.org/officeDocument/2006/relationships/notesMaster" Target="/ppt/notesMasters/notesMaster1.xml" Id="R1ee2b019583a4c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9566eb9ebd04363" /><Relationship Type="http://schemas.openxmlformats.org/officeDocument/2006/relationships/notesMaster" Target="/ppt/notesMasters/notesMaster1.xml" Id="R3454676ef19a44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555d8c398514f74" /><Relationship Type="http://schemas.openxmlformats.org/officeDocument/2006/relationships/notesMaster" Target="/ppt/notesMasters/notesMaster1.xml" Id="R4dc13d6af6af459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e54746dc3f4c6e" /><Relationship Type="http://schemas.openxmlformats.org/officeDocument/2006/relationships/notesMaster" Target="/ppt/notesMasters/notesMaster1.xml" Id="R254b5da1ef5541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and yourself. Advance with a click. Source: https://quotepilotagent.lovable.app/. Public app inspected 10 October 2026. Workspace requires sign-in.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business scenario, not a named customer pilot. Click to reveal each point. No customer baseline measurements were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https://quotepilotagent.lovable.app/. The public landing page describes these capabilities and names record_extraction, search_catalog, lookup_inventory, calculate_quote, save_quote_draft. Backend execution was not independently verified behind sign-in. Click to reveal feature groups.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business benefits, not measured results. Benchmark the same 10 inquiries manually and with the agent, record corrections, and include owner review. Estimate net labor cost savings from saved hours and hourly cost less running costs. Do not claim revenue attribution without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 https://quotepilotagent.lovable.app/. Use the configured account and real available catalog entry. Landing-page tool activity is an illustrative example, not measured impact evidence. Click through the three steps during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the judges and invite questions. Live app: https://quotepilotagent.lovable.app/. Next validation: one SME pilot with matched manual and assisted inquiries.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f290baaa06411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e17fa04c70a472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4b3e0501ebe47d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bd1feb035a74d9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9545435c8c34cb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9406667b39141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FC3F14-5245-4003-8788-58293C23009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20A2A75-EF82-472F-9098-6DA49C9B8A9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3830C4E-9ED3-435D-960A-5916A00015C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A6EE5C8-9B3A-4267-9514-D5E0C18BA13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27D0711-3107-44A6-9F94-3D702FB4405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E14CF89-71EB-41F2-819B-4F2C376AA3B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3CE7FE9-E08E-41F3-9DBE-644A850CEA6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98E041B-5E50-4979-8A0B-5172981DD0B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048185-5923-4320-BEBE-D3BD31D827F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47EFC68-206D-45E0-BC3D-6799BBD3A37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a2810304aac437a" /><Relationship Type="http://schemas.openxmlformats.org/officeDocument/2006/relationships/slideLayout" Target="/ppt/slideLayouts/slideLayout1.xml" Id="R7aed5bd13f0e4de5" /><Relationship Type="http://schemas.openxmlformats.org/officeDocument/2006/relationships/slideLayout" Target="/ppt/slideLayouts/slideLayout2.xml" Id="R74ef4543a2e44c79" /><Relationship Type="http://schemas.openxmlformats.org/officeDocument/2006/relationships/slideLayout" Target="/ppt/slideLayouts/slideLayout3.xml" Id="R065f59710bbe46b5" /><Relationship Type="http://schemas.openxmlformats.org/officeDocument/2006/relationships/slideLayout" Target="/ppt/slideLayouts/slideLayout4.xml" Id="R8867c03cbf2447d1" /><Relationship Type="http://schemas.openxmlformats.org/officeDocument/2006/relationships/slideLayout" Target="/ppt/slideLayouts/slideLayout5.xml" Id="Rc56f31b63f9a4728" /><Relationship Type="http://schemas.openxmlformats.org/officeDocument/2006/relationships/slideLayout" Target="/ppt/slideLayouts/slideLayout6.xml" Id="R4fca13cb8b8241a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ed5bd13f0e4de5"/>
    <p:sldLayoutId xmlns:r="http://schemas.openxmlformats.org/officeDocument/2006/relationships" id="2147483650" r:id="R74ef4543a2e44c79"/>
    <p:sldLayoutId xmlns:r="http://schemas.openxmlformats.org/officeDocument/2006/relationships" id="2147483651" r:id="R065f59710bbe46b5"/>
    <p:sldLayoutId xmlns:r="http://schemas.openxmlformats.org/officeDocument/2006/relationships" id="2147483652" r:id="R8867c03cbf2447d1"/>
    <p:sldLayoutId xmlns:r="http://schemas.openxmlformats.org/officeDocument/2006/relationships" id="2147483653" r:id="Rc56f31b63f9a4728"/>
    <p:sldLayoutId xmlns:r="http://schemas.openxmlformats.org/officeDocument/2006/relationships" id="2147483654" r:id="R4fca13cb8b8241a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d49f862a40b42e4" /><Relationship Type="http://schemas.openxmlformats.org/officeDocument/2006/relationships/notesSlide" Target="/ppt/notesSlides/notesSlide1.xml" Id="R63641af37fe643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08bc90aa4e5473c" /><Relationship Type="http://schemas.openxmlformats.org/officeDocument/2006/relationships/notesSlide" Target="/ppt/notesSlides/notesSlide2.xml" Id="R2c39f4354b6a4f9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7f88ebdd9e24f1d" /><Relationship Type="http://schemas.openxmlformats.org/officeDocument/2006/relationships/notesSlide" Target="/ppt/notesSlides/notesSlide3.xml" Id="Rd5eef6bbae914ef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67898c53fb84a97" /><Relationship Type="http://schemas.openxmlformats.org/officeDocument/2006/relationships/notesSlide" Target="/ppt/notesSlides/notesSlide4.xml" Id="R5fbd4a6f4a6745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a153417c2ea4f42" /><Relationship Type="http://schemas.openxmlformats.org/officeDocument/2006/relationships/notesSlide" Target="/ppt/notesSlides/notesSlide5.xml" Id="R461fa52dc5094ad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ce601afbe9b487e" /><Relationship Type="http://schemas.openxmlformats.org/officeDocument/2006/relationships/notesSlide" Target="/ppt/notesSlides/notesSlide6.xml" Id="R22743369f6164052" /></Relationships>
</file>

<file path=ppt/slides/slide1.xml><?xml version="1.0" encoding="utf-8"?>
<p:sld xmlns:p="http://schemas.openxmlformats.org/presentationml/2006/main">
  <p:cSld>
    <p:bg>
      <p:bgPr>
        <a:solidFill xmlns:a="http://schemas.openxmlformats.org/drawingml/2006/main">
          <a:srgbClr val="101E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BE32D5F-FC92-4296-97F6-E5668CE2FDEB}"/>
              </a:ext>
            </a:extLst>
          </p:cNvPr>
          <p:cNvSpPr>
            <a:spLocks xmlns:a="http://schemas.openxmlformats.org/drawingml/2006/main" noGrp="1"/>
          </p:cNvSpPr>
          <p:nvPr/>
        </p:nvSpPr>
        <p:spPr>
          <a:xfrm xmlns:a="http://schemas.openxmlformats.org/drawingml/2006/main">
            <a:off x="11049000" y="60960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7C6CA"/>
                </a:solidFill>
              </a:defRPr>
            </a:defPPr>
          </a:lstStyle>
          <a:p xmlns:a="http://schemas.openxmlformats.org/drawingml/2006/main">
            <a:pPr>
              <a:defRPr sz="1350" b="0">
                <a:solidFill>
                  <a:srgbClr val="B7C6CA"/>
                </a:solidFill>
              </a:defRPr>
            </a:pPr>
            <a:r>
              <a:rPr sz="1350" b="0">
                <a:solidFill>
                  <a:srgbClr val="B7C6CA"/>
                </a:solidFill>
              </a:rPr>
              <a:t>01</a:t>
            </a:r>
          </a:p>
        </p:txBody>
      </p:sp>
      <p:sp>
        <p:nvSpPr>
          <p:cNvPr id="2" name="">
            <a:extLst xmlns:a="http://schemas.openxmlformats.org/drawingml/2006/main">
              <a:ext uri="{FF2B5EF4-FFF2-40B4-BE49-F238E27FC236}">
                <a16:creationId xmlns:a16="http://schemas.microsoft.com/office/drawing/2014/main" id="{49EB79BC-51C4-4AF4-94AB-60B93F111155}"/>
              </a:ext>
            </a:extLst>
          </p:cNvPr>
          <p:cNvSpPr>
            <a:spLocks xmlns:a="http://schemas.openxmlformats.org/drawingml/2006/main" noGrp="1"/>
          </p:cNvSpPr>
          <p:nvPr/>
        </p:nvSpPr>
        <p:spPr>
          <a:xfrm xmlns:a="http://schemas.openxmlformats.org/drawingml/2006/main">
            <a:off x="714375" y="6667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3F4ED"/>
                </a:solidFill>
              </a:defRPr>
            </a:defPPr>
          </a:lstStyle>
          <a:p xmlns:a="http://schemas.openxmlformats.org/drawingml/2006/main">
            <a:pPr>
              <a:defRPr sz="3450" b="1">
                <a:solidFill>
                  <a:srgbClr val="F3F4ED"/>
                </a:solidFill>
              </a:defRPr>
            </a:pPr>
            <a:r>
              <a:rPr sz="3450" b="1">
                <a:solidFill>
                  <a:srgbClr val="F3F4ED"/>
                </a:solidFill>
              </a:rPr>
              <a:t>QuotePilot</a:t>
            </a:r>
          </a:p>
        </p:txBody>
      </p:sp>
      <p:sp>
        <p:nvSpPr>
          <p:cNvPr id="3" name="">
            <a:extLst xmlns:a="http://schemas.openxmlformats.org/drawingml/2006/main">
              <a:ext uri="{FF2B5EF4-FFF2-40B4-BE49-F238E27FC236}">
                <a16:creationId xmlns:a16="http://schemas.microsoft.com/office/drawing/2014/main" id="{CF33E720-2AF4-4894-8C42-C0352982D1A2}"/>
              </a:ext>
            </a:extLst>
          </p:cNvPr>
          <p:cNvSpPr>
            <a:spLocks xmlns:a="http://schemas.openxmlformats.org/drawingml/2006/main" noGrp="1"/>
          </p:cNvSpPr>
          <p:nvPr/>
        </p:nvSpPr>
        <p:spPr>
          <a:xfrm xmlns:a="http://schemas.openxmlformats.org/drawingml/2006/main">
            <a:off x="742950" y="204787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9FE5CA"/>
                </a:solidFill>
              </a:defRPr>
            </a:defPPr>
          </a:lstStyle>
          <a:p xmlns:a="http://schemas.openxmlformats.org/drawingml/2006/main">
            <a:pPr>
              <a:defRPr sz="3150" b="0">
                <a:solidFill>
                  <a:srgbClr val="9FE5CA"/>
                </a:solidFill>
              </a:defRPr>
            </a:pPr>
            <a:r>
              <a:rPr sz="3150" b="0">
                <a:solidFill>
                  <a:srgbClr val="9FE5CA"/>
                </a:solidFill>
              </a:rPr>
              <a:t>Arabic / English sales quotation agent</a:t>
            </a:r>
          </a:p>
        </p:txBody>
      </p:sp>
      <p:sp>
        <p:nvSpPr>
          <p:cNvPr id="4" name="">
            <a:extLst xmlns:a="http://schemas.openxmlformats.org/drawingml/2006/main">
              <a:ext uri="{FF2B5EF4-FFF2-40B4-BE49-F238E27FC236}">
                <a16:creationId xmlns:a16="http://schemas.microsoft.com/office/drawing/2014/main" id="{5031DE83-2286-4357-9501-55C0032754B8}"/>
              </a:ext>
            </a:extLst>
          </p:cNvPr>
          <p:cNvSpPr>
            <a:spLocks xmlns:a="http://schemas.openxmlformats.org/drawingml/2006/main" noGrp="1"/>
          </p:cNvSpPr>
          <p:nvPr/>
        </p:nvSpPr>
        <p:spPr>
          <a:xfrm xmlns:a="http://schemas.openxmlformats.org/drawingml/2006/main">
            <a:off x="742950" y="400050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3F4ED"/>
                </a:solidFill>
              </a:defRPr>
            </a:defPPr>
          </a:lstStyle>
          <a:p xmlns:a="http://schemas.openxmlformats.org/drawingml/2006/main">
            <a:pPr>
              <a:defRPr sz="2550" b="0">
                <a:solidFill>
                  <a:srgbClr val="F3F4ED"/>
                </a:solidFill>
              </a:defRPr>
            </a:pPr>
            <a:r>
              <a:rPr sz="2550" b="0">
                <a:solidFill>
                  <a:srgbClr val="F3F4ED"/>
                </a:solidFill>
              </a:rPr>
              <a:t>Hossam Elshahaby</a:t>
            </a:r>
          </a:p>
        </p:txBody>
      </p:sp>
      <p:sp>
        <p:nvSpPr>
          <p:cNvPr id="5" name="">
            <a:extLst xmlns:a="http://schemas.openxmlformats.org/drawingml/2006/main">
              <a:ext uri="{FF2B5EF4-FFF2-40B4-BE49-F238E27FC236}">
                <a16:creationId xmlns:a16="http://schemas.microsoft.com/office/drawing/2014/main" id="{7F0DB7C4-CE00-4BDA-B557-C0F4244B185C}"/>
              </a:ext>
            </a:extLst>
          </p:cNvPr>
          <p:cNvSpPr>
            <a:spLocks xmlns:a="http://schemas.openxmlformats.org/drawingml/2006/main" noGrp="1"/>
          </p:cNvSpPr>
          <p:nvPr/>
        </p:nvSpPr>
        <p:spPr>
          <a:xfrm xmlns:a="http://schemas.openxmlformats.org/drawingml/2006/main">
            <a:off x="742950" y="5095875"/>
            <a:ext cx="857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7C6CA"/>
                </a:solidFill>
              </a:defRPr>
            </a:defPPr>
          </a:lstStyle>
          <a:p xmlns:a="http://schemas.openxmlformats.org/drawingml/2006/main">
            <a:pPr>
              <a:defRPr sz="1875" b="0">
                <a:solidFill>
                  <a:srgbClr val="B7C6CA"/>
                </a:solidFill>
              </a:defRPr>
            </a:pPr>
            <a:r>
              <a:rPr sz="1875" b="0">
                <a:solidFill>
                  <a:srgbClr val="B7C6CA"/>
                </a:solidFill>
              </a:rPr>
              <a:t>Agents at Work 2026</a:t>
            </a:r>
          </a:p>
        </p:txBody>
      </p:sp>
    </p:spTree>
    <p:extLst>
      <p:ext uri="{BB962C8B-B14F-4D97-AF65-F5344CB8AC3E}">
        <p14:creationId xmlns:p14="http://schemas.microsoft.com/office/powerpoint/2010/main" val="121220611"/>
      </p:ext>
    </p:extLst>
  </p:cSld>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tgtEl>
                                    <p:spTgt spid="3"/>
                                  </p:tgtEl>
                                  <p:attrNameLst>
                                    <p:attrName>style.visibility</p:attrName>
                                  </p:attrNameLst>
                                </p:cBhvr>
                                <p:to>
                                  <p:strVal val="visible"/>
                                </p:to>
                              </p:set>
                            </p:childTnLst>
                          </p:cTn>
                        </p:par>
                      </p:childTnLst>
                    </p:cTn>
                  </p:par>
                  <p:par>
                    <p:cTn id="7" fill="hold">
                      <p:stCondLst>
                        <p:cond delay="indefinite"/>
                      </p:stCondLst>
                      <p:childTnLst>
                        <p:par>
                          <p:cTn id="8" presetID="1" presetClass="entr" presetSubtype="0" fill="hold" nodeType="clickEffect">
                            <p:stCondLst>
                              <p:cond delay="0"/>
                            </p:stCondLst>
                            <p:childTnLst>
                              <p:set>
                                <p:cBhvr>
                                  <p:cTn id="9" dur="1" fill="hold"/>
                                  <p:tgtEl>
                                    <p:spTgt spid="4"/>
                                  </p:tgtEl>
                                  <p:attrNameLst>
                                    <p:attrName>style.visibility</p:attrName>
                                  </p:attrNameLst>
                                </p:cBhvr>
                                <p:to>
                                  <p:strVal val="visible"/>
                                </p:to>
                              </p:set>
                            </p:childTnLst>
                          </p:cTn>
                        </p:par>
                      </p:childTnLst>
                    </p:cTn>
                  </p:par>
                  <p:par>
                    <p:cTn id="11" fill="hold">
                      <p:stCondLst>
                        <p:cond delay="indefinite"/>
                      </p:stCondLst>
                      <p:childTnLst>
                        <p:par>
                          <p:cTn id="12" presetID="1" presetClass="entr" presetSubtype="0" fill="hold" nodeType="clickEffect">
                            <p:stCondLst>
                              <p:cond delay="0"/>
                            </p:stCondLst>
                            <p:childTnLst>
                              <p:set>
                                <p:cBhvr>
                                  <p:cTn id="13" dur="1" fill="hold"/>
                                  <p:tgtEl>
                                    <p:spTgt spid="5"/>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p="http://schemas.openxmlformats.org/presentationml/2006/main">
  <p:cSld>
    <p:bg>
      <p:bgPr>
        <a:solidFill xmlns:a="http://schemas.openxmlformats.org/drawingml/2006/main">
          <a:srgbClr val="101E2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989A258-57BB-4175-A23B-50589973547B}"/>
              </a:ext>
            </a:extLst>
          </p:cNvPr>
          <p:cNvSpPr>
            <a:spLocks xmlns:a="http://schemas.openxmlformats.org/drawingml/2006/main" noGrp="1"/>
          </p:cNvSpPr>
          <p:nvPr/>
        </p:nvSpPr>
        <p:spPr>
          <a:xfrm xmlns:a="http://schemas.openxmlformats.org/drawingml/2006/main">
            <a:off x="11049000" y="60960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7C6CA"/>
                </a:solidFill>
              </a:defRPr>
            </a:defPPr>
          </a:lstStyle>
          <a:p xmlns:a="http://schemas.openxmlformats.org/drawingml/2006/main">
            <a:pPr>
              <a:defRPr sz="1350" b="0">
                <a:solidFill>
                  <a:srgbClr val="B7C6CA"/>
                </a:solidFill>
              </a:defRPr>
            </a:pPr>
            <a:r>
              <a:rPr sz="1350" b="0">
                <a:solidFill>
                  <a:srgbClr val="B7C6CA"/>
                </a:solidFill>
              </a:rPr>
              <a:t>02</a:t>
            </a:r>
          </a:p>
        </p:txBody>
      </p:sp>
      <p:sp>
        <p:nvSpPr>
          <p:cNvPr id="2" name="">
            <a:extLst xmlns:a="http://schemas.openxmlformats.org/drawingml/2006/main">
              <a:ext uri="{FF2B5EF4-FFF2-40B4-BE49-F238E27FC236}">
                <a16:creationId xmlns:a16="http://schemas.microsoft.com/office/drawing/2014/main" id="{1AA563DE-9854-4095-827A-E30A0929ABA0}"/>
              </a:ext>
            </a:extLst>
          </p:cNvPr>
          <p:cNvSpPr>
            <a:spLocks xmlns:a="http://schemas.openxmlformats.org/drawingml/2006/main" noGrp="1"/>
          </p:cNvSpPr>
          <p:nvPr/>
        </p:nvSpPr>
        <p:spPr>
          <a:xfrm xmlns:a="http://schemas.openxmlformats.org/drawingml/2006/main">
            <a:off x="714375" y="6667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3F4ED"/>
                </a:solidFill>
              </a:defRPr>
            </a:defPPr>
          </a:lstStyle>
          <a:p xmlns:a="http://schemas.openxmlformats.org/drawingml/2006/main">
            <a:pPr>
              <a:defRPr sz="3450" b="1">
                <a:solidFill>
                  <a:srgbClr val="F3F4ED"/>
                </a:solidFill>
              </a:defRPr>
            </a:pPr>
            <a:r>
              <a:rPr sz="3450" b="1">
                <a:solidFill>
                  <a:srgbClr val="F3F4ED"/>
                </a:solidFill>
              </a:rPr>
              <a:t>The problem</a:t>
            </a:r>
          </a:p>
        </p:txBody>
      </p:sp>
      <p:sp>
        <p:nvSpPr>
          <p:cNvPr id="3" name="">
            <a:extLst xmlns:a="http://schemas.openxmlformats.org/drawingml/2006/main">
              <a:ext uri="{FF2B5EF4-FFF2-40B4-BE49-F238E27FC236}">
                <a16:creationId xmlns:a16="http://schemas.microsoft.com/office/drawing/2014/main" id="{D8E90BD1-C238-4916-BB00-4E4CBD85DC6B}"/>
              </a:ext>
            </a:extLst>
          </p:cNvPr>
          <p:cNvSpPr>
            <a:spLocks xmlns:a="http://schemas.openxmlformats.org/drawingml/2006/main" noGrp="1"/>
          </p:cNvSpPr>
          <p:nvPr/>
        </p:nvSpPr>
        <p:spPr>
          <a:xfrm xmlns:a="http://schemas.openxmlformats.org/drawingml/2006/main">
            <a:off x="742950" y="16668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7C6CA"/>
                </a:solidFill>
              </a:defRPr>
            </a:defPPr>
          </a:lstStyle>
          <a:p xmlns:a="http://schemas.openxmlformats.org/drawingml/2006/main">
            <a:pPr>
              <a:defRPr sz="1875" b="0">
                <a:solidFill>
                  <a:srgbClr val="B7C6CA"/>
                </a:solidFill>
              </a:defRPr>
            </a:pPr>
            <a:r>
              <a:rPr sz="1875" b="0">
                <a:solidFill>
                  <a:srgbClr val="B7C6CA"/>
                </a:solidFill>
              </a:rPr>
              <a:t>Small electrical and automotive parts suppliers handle quotations manually</a:t>
            </a:r>
          </a:p>
        </p:txBody>
      </p:sp>
      <p:sp>
        <p:nvSpPr>
          <p:cNvPr id="4" name="">
            <a:extLst xmlns:a="http://schemas.openxmlformats.org/drawingml/2006/main">
              <a:ext uri="{FF2B5EF4-FFF2-40B4-BE49-F238E27FC236}">
                <a16:creationId xmlns:a16="http://schemas.microsoft.com/office/drawing/2014/main" id="{A1499FDB-8474-4001-AE55-FE6D74930FB5}"/>
              </a:ext>
            </a:extLst>
          </p:cNvPr>
          <p:cNvSpPr>
            <a:spLocks xmlns:a="http://schemas.openxmlformats.org/drawingml/2006/main" noGrp="1"/>
          </p:cNvSpPr>
          <p:nvPr/>
        </p:nvSpPr>
        <p:spPr>
          <a:xfrm xmlns:a="http://schemas.openxmlformats.org/drawingml/2006/main">
            <a:off x="742950" y="261937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9FE5CA"/>
                </a:solidFill>
              </a:defRPr>
            </a:defPPr>
          </a:lstStyle>
          <a:p xmlns:a="http://schemas.openxmlformats.org/drawingml/2006/main">
            <a:pPr>
              <a:defRPr sz="3000" b="1">
                <a:solidFill>
                  <a:srgbClr val="9FE5CA"/>
                </a:solidFill>
              </a:defRPr>
            </a:pPr>
            <a:r>
              <a:rPr sz="3000" b="1">
                <a:solidFill>
                  <a:srgbClr val="9FE5CA"/>
                </a:solidFill>
              </a:rPr>
              <a:t>01</a:t>
            </a:r>
          </a:p>
        </p:txBody>
      </p:sp>
      <p:sp>
        <p:nvSpPr>
          <p:cNvPr id="5" name="">
            <a:extLst xmlns:a="http://schemas.openxmlformats.org/drawingml/2006/main">
              <a:ext uri="{FF2B5EF4-FFF2-40B4-BE49-F238E27FC236}">
                <a16:creationId xmlns:a16="http://schemas.microsoft.com/office/drawing/2014/main" id="{11F1F752-3ADB-440E-A991-A069CAD28E59}"/>
              </a:ext>
            </a:extLst>
          </p:cNvPr>
          <p:cNvSpPr>
            <a:spLocks xmlns:a="http://schemas.openxmlformats.org/drawingml/2006/main" noGrp="1"/>
          </p:cNvSpPr>
          <p:nvPr/>
        </p:nvSpPr>
        <p:spPr>
          <a:xfrm xmlns:a="http://schemas.openxmlformats.org/drawingml/2006/main">
            <a:off x="1762125" y="2619375"/>
            <a:ext cx="933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F3F4ED"/>
                </a:solidFill>
              </a:defRPr>
            </a:defPPr>
          </a:lstStyle>
          <a:p xmlns:a="http://schemas.openxmlformats.org/drawingml/2006/main">
            <a:pPr>
              <a:defRPr sz="2250" b="1">
                <a:solidFill>
                  <a:srgbClr val="F3F4ED"/>
                </a:solidFill>
              </a:defRPr>
            </a:pPr>
            <a:r>
              <a:rPr sz="2250" b="1">
                <a:solidFill>
                  <a:srgbClr val="F3F4ED"/>
                </a:solidFill>
              </a:rPr>
              <a:t>Incomplete customer messages</a:t>
            </a:r>
          </a:p>
        </p:txBody>
      </p:sp>
      <p:sp>
        <p:nvSpPr>
          <p:cNvPr id="6" name="">
            <a:extLst xmlns:a="http://schemas.openxmlformats.org/drawingml/2006/main">
              <a:ext uri="{FF2B5EF4-FFF2-40B4-BE49-F238E27FC236}">
                <a16:creationId xmlns:a16="http://schemas.microsoft.com/office/drawing/2014/main" id="{9C14B760-8138-45E3-AC6D-72A29E5594F2}"/>
              </a:ext>
            </a:extLst>
          </p:cNvPr>
          <p:cNvSpPr>
            <a:spLocks xmlns:a="http://schemas.openxmlformats.org/drawingml/2006/main" noGrp="1"/>
          </p:cNvSpPr>
          <p:nvPr/>
        </p:nvSpPr>
        <p:spPr>
          <a:xfrm xmlns:a="http://schemas.openxmlformats.org/drawingml/2006/main">
            <a:off x="1762125" y="3114675"/>
            <a:ext cx="933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7C6CA"/>
                </a:solidFill>
              </a:defRPr>
            </a:defPPr>
          </a:lstStyle>
          <a:p xmlns:a="http://schemas.openxmlformats.org/drawingml/2006/main">
            <a:pPr>
              <a:defRPr sz="1875" b="0">
                <a:solidFill>
                  <a:srgbClr val="B7C6CA"/>
                </a:solidFill>
              </a:defRPr>
            </a:pPr>
            <a:r>
              <a:rPr sz="1875" b="0">
                <a:solidFill>
                  <a:srgbClr val="B7C6CA"/>
                </a:solidFill>
              </a:rPr>
              <a:t>Arabic and English inquiries can omit quantities or exact specifications.</a:t>
            </a:r>
          </a:p>
        </p:txBody>
      </p:sp>
      <p:sp>
        <p:nvSpPr>
          <p:cNvPr id="7" name="">
            <a:extLst xmlns:a="http://schemas.openxmlformats.org/drawingml/2006/main">
              <a:ext uri="{FF2B5EF4-FFF2-40B4-BE49-F238E27FC236}">
                <a16:creationId xmlns:a16="http://schemas.microsoft.com/office/drawing/2014/main" id="{0882BD25-9B9F-4956-A078-75645072FCC6}"/>
              </a:ext>
            </a:extLst>
          </p:cNvPr>
          <p:cNvSpPr>
            <a:spLocks xmlns:a="http://schemas.openxmlformats.org/drawingml/2006/main" noGrp="1"/>
          </p:cNvSpPr>
          <p:nvPr/>
        </p:nvSpPr>
        <p:spPr>
          <a:xfrm xmlns:a="http://schemas.openxmlformats.org/drawingml/2006/main">
            <a:off x="742950" y="395287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9FE5CA"/>
                </a:solidFill>
              </a:defRPr>
            </a:defPPr>
          </a:lstStyle>
          <a:p xmlns:a="http://schemas.openxmlformats.org/drawingml/2006/main">
            <a:pPr>
              <a:defRPr sz="3000" b="1">
                <a:solidFill>
                  <a:srgbClr val="9FE5CA"/>
                </a:solidFill>
              </a:defRPr>
            </a:pPr>
            <a:r>
              <a:rPr sz="3000" b="1">
                <a:solidFill>
                  <a:srgbClr val="9FE5CA"/>
                </a:solidFill>
              </a:rPr>
              <a:t>02</a:t>
            </a:r>
          </a:p>
        </p:txBody>
      </p:sp>
      <p:sp>
        <p:nvSpPr>
          <p:cNvPr id="8" name="">
            <a:extLst xmlns:a="http://schemas.openxmlformats.org/drawingml/2006/main">
              <a:ext uri="{FF2B5EF4-FFF2-40B4-BE49-F238E27FC236}">
                <a16:creationId xmlns:a16="http://schemas.microsoft.com/office/drawing/2014/main" id="{68B645F9-C99A-494F-ABA8-F158BE09A521}"/>
              </a:ext>
            </a:extLst>
          </p:cNvPr>
          <p:cNvSpPr>
            <a:spLocks xmlns:a="http://schemas.openxmlformats.org/drawingml/2006/main" noGrp="1"/>
          </p:cNvSpPr>
          <p:nvPr/>
        </p:nvSpPr>
        <p:spPr>
          <a:xfrm xmlns:a="http://schemas.openxmlformats.org/drawingml/2006/main">
            <a:off x="1762125" y="3952875"/>
            <a:ext cx="933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F3F4ED"/>
                </a:solidFill>
              </a:defRPr>
            </a:defPPr>
          </a:lstStyle>
          <a:p xmlns:a="http://schemas.openxmlformats.org/drawingml/2006/main">
            <a:pPr>
              <a:defRPr sz="2250" b="1">
                <a:solidFill>
                  <a:srgbClr val="F3F4ED"/>
                </a:solidFill>
              </a:defRPr>
            </a:pPr>
            <a:r>
              <a:rPr sz="2250" b="1">
                <a:solidFill>
                  <a:srgbClr val="F3F4ED"/>
                </a:solidFill>
              </a:rPr>
              <a:t>Repeated product and pricing checks</a:t>
            </a:r>
          </a:p>
        </p:txBody>
      </p:sp>
      <p:sp>
        <p:nvSpPr>
          <p:cNvPr id="9" name="">
            <a:extLst xmlns:a="http://schemas.openxmlformats.org/drawingml/2006/main">
              <a:ext uri="{FF2B5EF4-FFF2-40B4-BE49-F238E27FC236}">
                <a16:creationId xmlns:a16="http://schemas.microsoft.com/office/drawing/2014/main" id="{FC133145-5389-4675-A655-1D5EB232B304}"/>
              </a:ext>
            </a:extLst>
          </p:cNvPr>
          <p:cNvSpPr>
            <a:spLocks xmlns:a="http://schemas.openxmlformats.org/drawingml/2006/main" noGrp="1"/>
          </p:cNvSpPr>
          <p:nvPr/>
        </p:nvSpPr>
        <p:spPr>
          <a:xfrm xmlns:a="http://schemas.openxmlformats.org/drawingml/2006/main">
            <a:off x="1762125" y="4448175"/>
            <a:ext cx="933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7C6CA"/>
                </a:solidFill>
              </a:defRPr>
            </a:defPPr>
          </a:lstStyle>
          <a:p xmlns:a="http://schemas.openxmlformats.org/drawingml/2006/main">
            <a:pPr>
              <a:defRPr sz="1875" b="0">
                <a:solidFill>
                  <a:srgbClr val="B7C6CA"/>
                </a:solidFill>
              </a:defRPr>
            </a:pPr>
            <a:r>
              <a:rPr sz="1875" b="0">
                <a:solidFill>
                  <a:srgbClr val="B7C6CA"/>
                </a:solidFill>
              </a:rPr>
              <a:t>The owner searches the catalog, checks stock and calculates totals.</a:t>
            </a:r>
          </a:p>
        </p:txBody>
      </p:sp>
      <p:sp>
        <p:nvSpPr>
          <p:cNvPr id="10" name="">
            <a:extLst xmlns:a="http://schemas.openxmlformats.org/drawingml/2006/main">
              <a:ext uri="{FF2B5EF4-FFF2-40B4-BE49-F238E27FC236}">
                <a16:creationId xmlns:a16="http://schemas.microsoft.com/office/drawing/2014/main" id="{C379E197-58B5-4C04-B7C5-2ABC825705C7}"/>
              </a:ext>
            </a:extLst>
          </p:cNvPr>
          <p:cNvSpPr>
            <a:spLocks xmlns:a="http://schemas.openxmlformats.org/drawingml/2006/main" noGrp="1"/>
          </p:cNvSpPr>
          <p:nvPr/>
        </p:nvSpPr>
        <p:spPr>
          <a:xfrm xmlns:a="http://schemas.openxmlformats.org/drawingml/2006/main">
            <a:off x="1762125" y="5476875"/>
            <a:ext cx="895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9FE5CA"/>
                </a:solidFill>
              </a:defRPr>
            </a:defPPr>
          </a:lstStyle>
          <a:p xmlns:a="http://schemas.openxmlformats.org/drawingml/2006/main">
            <a:pPr>
              <a:defRPr sz="2025" b="0">
                <a:solidFill>
                  <a:srgbClr val="9FE5CA"/>
                </a:solidFill>
              </a:defRPr>
            </a:pPr>
            <a:r>
              <a:rPr sz="2025" b="0">
                <a:solidFill>
                  <a:srgbClr val="9FE5CA"/>
                </a:solidFill>
              </a:rPr>
              <a:t>Delayed replies leave customers waiting and quotes harder to track.</a:t>
            </a:r>
          </a:p>
        </p:txBody>
      </p:sp>
    </p:spTree>
    <p:extLst>
      <p:ext uri="{BB962C8B-B14F-4D97-AF65-F5344CB8AC3E}">
        <p14:creationId xmlns:p14="http://schemas.microsoft.com/office/powerpoint/2010/main" val="92689394"/>
      </p:ext>
    </p:extLst>
  </p:cSld>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tgtEl>
                                    <p:spTgt spid="3"/>
                                  </p:tgtEl>
                                  <p:attrNameLst>
                                    <p:attrName>style.visibility</p:attrName>
                                  </p:attrNameLst>
                                </p:cBhvr>
                                <p:to>
                                  <p:strVal val="visible"/>
                                </p:to>
                              </p:set>
                            </p:childTnLst>
                          </p:cTn>
                        </p:par>
                      </p:childTnLst>
                    </p:cTn>
                  </p:par>
                  <p:par>
                    <p:cTn id="7" fill="hold">
                      <p:stCondLst>
                        <p:cond delay="indefinite"/>
                      </p:stCondLst>
                      <p:childTnLst>
                        <p:par>
                          <p:cTn id="8" presetID="1" presetClass="entr" presetSubtype="0" fill="hold" nodeType="clickEffect">
                            <p:stCondLst>
                              <p:cond delay="0"/>
                            </p:stCondLst>
                            <p:childTnLst>
                              <p:set>
                                <p:cBhvr>
                                  <p:cTn id="9" dur="1" fill="hold"/>
                                  <p:tgtEl>
                                    <p:spTgt spid="5"/>
                                  </p:tgtEl>
                                  <p:attrNameLst>
                                    <p:attrName>style.visibility</p:attrName>
                                  </p:attrNameLst>
                                </p:cBhvr>
                                <p:to>
                                  <p:strVal val="visible"/>
                                </p:to>
                              </p:set>
                            </p:childTnLst>
                          </p:cTn>
                        </p:par>
                      </p:childTnLst>
                    </p:cTn>
                  </p:par>
                  <p:par>
                    <p:cTn id="11" fill="hold">
                      <p:stCondLst>
                        <p:cond delay="indefinite"/>
                      </p:stCondLst>
                      <p:childTnLst>
                        <p:par>
                          <p:cTn id="12" presetID="1" presetClass="entr" presetSubtype="0" fill="hold" nodeType="clickEffect">
                            <p:stCondLst>
                              <p:cond delay="0"/>
                            </p:stCondLst>
                            <p:childTnLst>
                              <p:set>
                                <p:cBhvr>
                                  <p:cTn id="13" dur="1" fill="hold"/>
                                  <p:tgtEl>
                                    <p:spTgt spid="6"/>
                                  </p:tgtEl>
                                  <p:attrNameLst>
                                    <p:attrName>style.visibility</p:attrName>
                                  </p:attrNameLst>
                                </p:cBhvr>
                                <p:to>
                                  <p:strVal val="visible"/>
                                </p:to>
                              </p:set>
                            </p:childTnLst>
                          </p:cTn>
                        </p:par>
                      </p:childTnLst>
                    </p:cTn>
                  </p:par>
                  <p:par>
                    <p:cTn id="15" fill="hold">
                      <p:stCondLst>
                        <p:cond delay="indefinite"/>
                      </p:stCondLst>
                      <p:childTnLst>
                        <p:par>
                          <p:cTn id="16" presetID="1" presetClass="entr" presetSubtype="0" fill="hold" nodeType="clickEffect">
                            <p:stCondLst>
                              <p:cond delay="0"/>
                            </p:stCondLst>
                            <p:childTnLst>
                              <p:set>
                                <p:cBhvr>
                                  <p:cTn id="17" dur="1" fill="hold"/>
                                  <p:tgtEl>
                                    <p:spTgt spid="8"/>
                                  </p:tgtEl>
                                  <p:attrNameLst>
                                    <p:attrName>style.visibility</p:attrName>
                                  </p:attrNameLst>
                                </p:cBhvr>
                                <p:to>
                                  <p:strVal val="visible"/>
                                </p:to>
                              </p:set>
                            </p:childTnLst>
                          </p:cTn>
                        </p:par>
                      </p:childTnLst>
                    </p:cTn>
                  </p:par>
                  <p:par>
                    <p:cTn id="19" fill="hold">
                      <p:stCondLst>
                        <p:cond delay="indefinite"/>
                      </p:stCondLst>
                      <p:childTnLst>
                        <p:par>
                          <p:cTn id="20" presetID="1" presetClass="entr" presetSubtype="0" fill="hold" nodeType="clickEffect">
                            <p:stCondLst>
                              <p:cond delay="0"/>
                            </p:stCondLst>
                            <p:childTnLst>
                              <p:set>
                                <p:cBhvr>
                                  <p:cTn id="21" dur="1" fill="hold"/>
                                  <p:tgtEl>
                                    <p:spTgt spid="9"/>
                                  </p:tgtEl>
                                  <p:attrNameLst>
                                    <p:attrName>style.visibility</p:attrName>
                                  </p:attrNameLst>
                                </p:cBhvr>
                                <p:to>
                                  <p:strVal val="visible"/>
                                </p:to>
                              </p:set>
                            </p:childTnLst>
                          </p:cTn>
                        </p:par>
                      </p:childTnLst>
                    </p:cTn>
                  </p:par>
                  <p:par>
                    <p:cTn id="23" fill="hold">
                      <p:stCondLst>
                        <p:cond delay="indefinite"/>
                      </p:stCondLst>
                      <p:childTnLst>
                        <p:par>
                          <p:cTn id="24" presetID="1" presetClass="entr" presetSubtype="0" fill="hold" nodeType="clickEffect">
                            <p:stCondLst>
                              <p:cond delay="0"/>
                            </p:stCondLst>
                            <p:childTnLst>
                              <p:set>
                                <p:cBhvr>
                                  <p:cTn id="25" dur="1" fill="hold"/>
                                  <p:tgtEl>
                                    <p:spTgt spid="10"/>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p="http://schemas.openxmlformats.org/presentationml/2006/main">
  <p:cSld>
    <p:bg>
      <p:bgPr>
        <a:solidFill xmlns:a="http://schemas.openxmlformats.org/drawingml/2006/main">
          <a:srgbClr val="101E2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60FE0B6-7C53-4440-B6F0-85FFDD8F0BED}"/>
              </a:ext>
            </a:extLst>
          </p:cNvPr>
          <p:cNvSpPr>
            <a:spLocks xmlns:a="http://schemas.openxmlformats.org/drawingml/2006/main" noGrp="1"/>
          </p:cNvSpPr>
          <p:nvPr/>
        </p:nvSpPr>
        <p:spPr>
          <a:xfrm xmlns:a="http://schemas.openxmlformats.org/drawingml/2006/main">
            <a:off x="11049000" y="60960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7C6CA"/>
                </a:solidFill>
              </a:defRPr>
            </a:defPPr>
          </a:lstStyle>
          <a:p xmlns:a="http://schemas.openxmlformats.org/drawingml/2006/main">
            <a:pPr>
              <a:defRPr sz="1350" b="0">
                <a:solidFill>
                  <a:srgbClr val="B7C6CA"/>
                </a:solidFill>
              </a:defRPr>
            </a:pPr>
            <a:r>
              <a:rPr sz="1350" b="0">
                <a:solidFill>
                  <a:srgbClr val="B7C6CA"/>
                </a:solidFill>
              </a:rPr>
              <a:t>03</a:t>
            </a:r>
          </a:p>
        </p:txBody>
      </p:sp>
      <p:sp>
        <p:nvSpPr>
          <p:cNvPr id="2" name="">
            <a:extLst xmlns:a="http://schemas.openxmlformats.org/drawingml/2006/main">
              <a:ext uri="{FF2B5EF4-FFF2-40B4-BE49-F238E27FC236}">
                <a16:creationId xmlns:a16="http://schemas.microsoft.com/office/drawing/2014/main" id="{4005051C-6D22-4BCF-8630-A488643F01CA}"/>
              </a:ext>
            </a:extLst>
          </p:cNvPr>
          <p:cNvSpPr>
            <a:spLocks xmlns:a="http://schemas.openxmlformats.org/drawingml/2006/main" noGrp="1"/>
          </p:cNvSpPr>
          <p:nvPr/>
        </p:nvSpPr>
        <p:spPr>
          <a:xfrm xmlns:a="http://schemas.openxmlformats.org/drawingml/2006/main">
            <a:off x="714375" y="6667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3F4ED"/>
                </a:solidFill>
              </a:defRPr>
            </a:defPPr>
          </a:lstStyle>
          <a:p xmlns:a="http://schemas.openxmlformats.org/drawingml/2006/main">
            <a:pPr>
              <a:defRPr sz="3450" b="1">
                <a:solidFill>
                  <a:srgbClr val="F3F4ED"/>
                </a:solidFill>
              </a:defRPr>
            </a:pPr>
            <a:r>
              <a:rPr sz="3450" b="1">
                <a:solidFill>
                  <a:srgbClr val="F3F4ED"/>
                </a:solidFill>
              </a:rPr>
              <a:t>The solution and app features</a:t>
            </a:r>
          </a:p>
        </p:txBody>
      </p:sp>
      <p:sp>
        <p:nvSpPr>
          <p:cNvPr id="3" name="">
            <a:extLst xmlns:a="http://schemas.openxmlformats.org/drawingml/2006/main">
              <a:ext uri="{FF2B5EF4-FFF2-40B4-BE49-F238E27FC236}">
                <a16:creationId xmlns:a16="http://schemas.microsoft.com/office/drawing/2014/main" id="{763F492A-3973-40C9-9B3D-2E6D8B108B2F}"/>
              </a:ext>
            </a:extLst>
          </p:cNvPr>
          <p:cNvSpPr>
            <a:spLocks xmlns:a="http://schemas.openxmlformats.org/drawingml/2006/main" noGrp="1"/>
          </p:cNvSpPr>
          <p:nvPr/>
        </p:nvSpPr>
        <p:spPr>
          <a:xfrm xmlns:a="http://schemas.openxmlformats.org/drawingml/2006/main">
            <a:off x="742950" y="16668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7C6CA"/>
                </a:solidFill>
              </a:defRPr>
            </a:defPPr>
          </a:lstStyle>
          <a:p xmlns:a="http://schemas.openxmlformats.org/drawingml/2006/main">
            <a:pPr>
              <a:defRPr sz="1875" b="0">
                <a:solidFill>
                  <a:srgbClr val="B7C6CA"/>
                </a:solidFill>
              </a:defRPr>
            </a:pPr>
            <a:r>
              <a:rPr sz="1875" b="0">
                <a:solidFill>
                  <a:srgbClr val="B7C6CA"/>
                </a:solidFill>
              </a:rPr>
              <a:t>QuotePilot prepares a quotation for the owner to review</a:t>
            </a:r>
          </a:p>
        </p:txBody>
      </p:sp>
      <p:sp>
        <p:nvSpPr>
          <p:cNvPr id="4" name="">
            <a:extLst xmlns:a="http://schemas.openxmlformats.org/drawingml/2006/main">
              <a:ext uri="{FF2B5EF4-FFF2-40B4-BE49-F238E27FC236}">
                <a16:creationId xmlns:a16="http://schemas.microsoft.com/office/drawing/2014/main" id="{4F941CDB-4A74-49A7-8378-BA98978C1058}"/>
              </a:ext>
            </a:extLst>
          </p:cNvPr>
          <p:cNvSpPr>
            <a:spLocks xmlns:a="http://schemas.openxmlformats.org/drawingml/2006/main" noGrp="1"/>
          </p:cNvSpPr>
          <p:nvPr/>
        </p:nvSpPr>
        <p:spPr>
          <a:xfrm xmlns:a="http://schemas.openxmlformats.org/drawingml/2006/main">
            <a:off x="742950" y="2571750"/>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9FE5CA"/>
                </a:solidFill>
              </a:defRPr>
            </a:defPPr>
          </a:lstStyle>
          <a:p xmlns:a="http://schemas.openxmlformats.org/drawingml/2006/main">
            <a:pPr>
              <a:defRPr sz="3000" b="1">
                <a:solidFill>
                  <a:srgbClr val="9FE5CA"/>
                </a:solidFill>
              </a:defRPr>
            </a:pPr>
            <a:r>
              <a:rPr sz="3000" b="1">
                <a:solidFill>
                  <a:srgbClr val="9FE5CA"/>
                </a:solidFill>
              </a:rPr>
              <a:t>01</a:t>
            </a:r>
          </a:p>
        </p:txBody>
      </p:sp>
      <p:sp>
        <p:nvSpPr>
          <p:cNvPr id="5" name="">
            <a:extLst xmlns:a="http://schemas.openxmlformats.org/drawingml/2006/main">
              <a:ext uri="{FF2B5EF4-FFF2-40B4-BE49-F238E27FC236}">
                <a16:creationId xmlns:a16="http://schemas.microsoft.com/office/drawing/2014/main" id="{3AA6F753-4A4F-4962-B9D6-61BDFCA04923}"/>
              </a:ext>
            </a:extLst>
          </p:cNvPr>
          <p:cNvSpPr>
            <a:spLocks xmlns:a="http://schemas.openxmlformats.org/drawingml/2006/main" noGrp="1"/>
          </p:cNvSpPr>
          <p:nvPr/>
        </p:nvSpPr>
        <p:spPr>
          <a:xfrm xmlns:a="http://schemas.openxmlformats.org/drawingml/2006/main">
            <a:off x="1762125" y="2571750"/>
            <a:ext cx="933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F3F4ED"/>
                </a:solidFill>
              </a:defRPr>
            </a:defPPr>
          </a:lstStyle>
          <a:p xmlns:a="http://schemas.openxmlformats.org/drawingml/2006/main">
            <a:pPr>
              <a:defRPr sz="2250" b="1">
                <a:solidFill>
                  <a:srgbClr val="F3F4ED"/>
                </a:solidFill>
              </a:defRPr>
            </a:pPr>
            <a:r>
              <a:rPr sz="2250" b="1">
                <a:solidFill>
                  <a:srgbClr val="F3F4ED"/>
                </a:solidFill>
              </a:rPr>
              <a:t>Bilingual inquiry understanding</a:t>
            </a:r>
          </a:p>
        </p:txBody>
      </p:sp>
      <p:sp>
        <p:nvSpPr>
          <p:cNvPr id="6" name="">
            <a:extLst xmlns:a="http://schemas.openxmlformats.org/drawingml/2006/main">
              <a:ext uri="{FF2B5EF4-FFF2-40B4-BE49-F238E27FC236}">
                <a16:creationId xmlns:a16="http://schemas.microsoft.com/office/drawing/2014/main" id="{E788DFB5-8123-4948-8477-D2F6165EEF15}"/>
              </a:ext>
            </a:extLst>
          </p:cNvPr>
          <p:cNvSpPr>
            <a:spLocks xmlns:a="http://schemas.openxmlformats.org/drawingml/2006/main" noGrp="1"/>
          </p:cNvSpPr>
          <p:nvPr/>
        </p:nvSpPr>
        <p:spPr>
          <a:xfrm xmlns:a="http://schemas.openxmlformats.org/drawingml/2006/main">
            <a:off x="1762125" y="3067050"/>
            <a:ext cx="933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7C6CA"/>
                </a:solidFill>
              </a:defRPr>
            </a:defPPr>
          </a:lstStyle>
          <a:p xmlns:a="http://schemas.openxmlformats.org/drawingml/2006/main">
            <a:pPr>
              <a:defRPr sz="1875" b="0">
                <a:solidFill>
                  <a:srgbClr val="B7C6CA"/>
                </a:solidFill>
              </a:defRPr>
            </a:pPr>
            <a:r>
              <a:rPr sz="1875" b="0">
                <a:solidFill>
                  <a:srgbClr val="B7C6CA"/>
                </a:solidFill>
              </a:rPr>
              <a:t>Read Arabic or English requests and identify missing information.</a:t>
            </a:r>
          </a:p>
        </p:txBody>
      </p:sp>
      <p:sp>
        <p:nvSpPr>
          <p:cNvPr id="7" name="">
            <a:extLst xmlns:a="http://schemas.openxmlformats.org/drawingml/2006/main">
              <a:ext uri="{FF2B5EF4-FFF2-40B4-BE49-F238E27FC236}">
                <a16:creationId xmlns:a16="http://schemas.microsoft.com/office/drawing/2014/main" id="{4740D418-1C86-4F1E-8A59-98CC0B8157A6}"/>
              </a:ext>
            </a:extLst>
          </p:cNvPr>
          <p:cNvSpPr>
            <a:spLocks xmlns:a="http://schemas.openxmlformats.org/drawingml/2006/main" noGrp="1"/>
          </p:cNvSpPr>
          <p:nvPr/>
        </p:nvSpPr>
        <p:spPr>
          <a:xfrm xmlns:a="http://schemas.openxmlformats.org/drawingml/2006/main">
            <a:off x="742950" y="3905250"/>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9FE5CA"/>
                </a:solidFill>
              </a:defRPr>
            </a:defPPr>
          </a:lstStyle>
          <a:p xmlns:a="http://schemas.openxmlformats.org/drawingml/2006/main">
            <a:pPr>
              <a:defRPr sz="3000" b="1">
                <a:solidFill>
                  <a:srgbClr val="9FE5CA"/>
                </a:solidFill>
              </a:defRPr>
            </a:pPr>
            <a:r>
              <a:rPr sz="3000" b="1">
                <a:solidFill>
                  <a:srgbClr val="9FE5CA"/>
                </a:solidFill>
              </a:rPr>
              <a:t>02</a:t>
            </a:r>
          </a:p>
        </p:txBody>
      </p:sp>
      <p:sp>
        <p:nvSpPr>
          <p:cNvPr id="8" name="">
            <a:extLst xmlns:a="http://schemas.openxmlformats.org/drawingml/2006/main">
              <a:ext uri="{FF2B5EF4-FFF2-40B4-BE49-F238E27FC236}">
                <a16:creationId xmlns:a16="http://schemas.microsoft.com/office/drawing/2014/main" id="{47EEEA6F-3A48-4B04-8332-15457B4D5875}"/>
              </a:ext>
            </a:extLst>
          </p:cNvPr>
          <p:cNvSpPr>
            <a:spLocks xmlns:a="http://schemas.openxmlformats.org/drawingml/2006/main" noGrp="1"/>
          </p:cNvSpPr>
          <p:nvPr/>
        </p:nvSpPr>
        <p:spPr>
          <a:xfrm xmlns:a="http://schemas.openxmlformats.org/drawingml/2006/main">
            <a:off x="1762125" y="3905250"/>
            <a:ext cx="933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F3F4ED"/>
                </a:solidFill>
              </a:defRPr>
            </a:defPPr>
          </a:lstStyle>
          <a:p xmlns:a="http://schemas.openxmlformats.org/drawingml/2006/main">
            <a:pPr>
              <a:defRPr sz="2250" b="1">
                <a:solidFill>
                  <a:srgbClr val="F3F4ED"/>
                </a:solidFill>
              </a:defRPr>
            </a:pPr>
            <a:r>
              <a:rPr sz="2250" b="1">
                <a:solidFill>
                  <a:srgbClr val="F3F4ED"/>
                </a:solidFill>
              </a:rPr>
              <a:t>Catalog, inventory and pricing tools</a:t>
            </a:r>
          </a:p>
        </p:txBody>
      </p:sp>
      <p:sp>
        <p:nvSpPr>
          <p:cNvPr id="9" name="">
            <a:extLst xmlns:a="http://schemas.openxmlformats.org/drawingml/2006/main">
              <a:ext uri="{FF2B5EF4-FFF2-40B4-BE49-F238E27FC236}">
                <a16:creationId xmlns:a16="http://schemas.microsoft.com/office/drawing/2014/main" id="{9CFA8CF0-CA9E-40D7-84D4-7539E835FA6F}"/>
              </a:ext>
            </a:extLst>
          </p:cNvPr>
          <p:cNvSpPr>
            <a:spLocks xmlns:a="http://schemas.openxmlformats.org/drawingml/2006/main" noGrp="1"/>
          </p:cNvSpPr>
          <p:nvPr/>
        </p:nvSpPr>
        <p:spPr>
          <a:xfrm xmlns:a="http://schemas.openxmlformats.org/drawingml/2006/main">
            <a:off x="1762125" y="4400550"/>
            <a:ext cx="933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7C6CA"/>
                </a:solidFill>
              </a:defRPr>
            </a:defPPr>
          </a:lstStyle>
          <a:p xmlns:a="http://schemas.openxmlformats.org/drawingml/2006/main">
            <a:pPr>
              <a:defRPr sz="1875" b="0">
                <a:solidFill>
                  <a:srgbClr val="B7C6CA"/>
                </a:solidFill>
              </a:defRPr>
            </a:pPr>
            <a:r>
              <a:rPr sz="1875" b="0">
                <a:solidFill>
                  <a:srgbClr val="B7C6CA"/>
                </a:solidFill>
              </a:rPr>
              <a:t>Find catalog matches, verify stock, and calculate discounts and VAT with code.</a:t>
            </a:r>
          </a:p>
        </p:txBody>
      </p:sp>
      <p:sp>
        <p:nvSpPr>
          <p:cNvPr id="10" name="">
            <a:extLst xmlns:a="http://schemas.openxmlformats.org/drawingml/2006/main">
              <a:ext uri="{FF2B5EF4-FFF2-40B4-BE49-F238E27FC236}">
                <a16:creationId xmlns:a16="http://schemas.microsoft.com/office/drawing/2014/main" id="{9AD49326-8BE8-44FC-A32B-27222EA46597}"/>
              </a:ext>
            </a:extLst>
          </p:cNvPr>
          <p:cNvSpPr>
            <a:spLocks xmlns:a="http://schemas.openxmlformats.org/drawingml/2006/main" noGrp="1"/>
          </p:cNvSpPr>
          <p:nvPr/>
        </p:nvSpPr>
        <p:spPr>
          <a:xfrm xmlns:a="http://schemas.openxmlformats.org/drawingml/2006/main">
            <a:off x="742950" y="5238750"/>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9FE5CA"/>
                </a:solidFill>
              </a:defRPr>
            </a:defPPr>
          </a:lstStyle>
          <a:p xmlns:a="http://schemas.openxmlformats.org/drawingml/2006/main">
            <a:pPr>
              <a:defRPr sz="3000" b="1">
                <a:solidFill>
                  <a:srgbClr val="9FE5CA"/>
                </a:solidFill>
              </a:defRPr>
            </a:pPr>
            <a:r>
              <a:rPr sz="3000" b="1">
                <a:solidFill>
                  <a:srgbClr val="9FE5CA"/>
                </a:solidFill>
              </a:rPr>
              <a:t>03</a:t>
            </a:r>
          </a:p>
        </p:txBody>
      </p:sp>
      <p:sp>
        <p:nvSpPr>
          <p:cNvPr id="11" name="">
            <a:extLst xmlns:a="http://schemas.openxmlformats.org/drawingml/2006/main">
              <a:ext uri="{FF2B5EF4-FFF2-40B4-BE49-F238E27FC236}">
                <a16:creationId xmlns:a16="http://schemas.microsoft.com/office/drawing/2014/main" id="{D9AEAD19-9826-416C-8649-262080C26A44}"/>
              </a:ext>
            </a:extLst>
          </p:cNvPr>
          <p:cNvSpPr>
            <a:spLocks xmlns:a="http://schemas.openxmlformats.org/drawingml/2006/main" noGrp="1"/>
          </p:cNvSpPr>
          <p:nvPr/>
        </p:nvSpPr>
        <p:spPr>
          <a:xfrm xmlns:a="http://schemas.openxmlformats.org/drawingml/2006/main">
            <a:off x="1762125" y="5238750"/>
            <a:ext cx="933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F3F4ED"/>
                </a:solidFill>
              </a:defRPr>
            </a:defPPr>
          </a:lstStyle>
          <a:p xmlns:a="http://schemas.openxmlformats.org/drawingml/2006/main">
            <a:pPr>
              <a:defRPr sz="2250" b="1">
                <a:solidFill>
                  <a:srgbClr val="F3F4ED"/>
                </a:solidFill>
              </a:defRPr>
            </a:pPr>
            <a:r>
              <a:rPr sz="2250" b="1">
                <a:solidFill>
                  <a:srgbClr val="F3F4ED"/>
                </a:solidFill>
              </a:rPr>
              <a:t>Quotation draft and approval</a:t>
            </a:r>
          </a:p>
        </p:txBody>
      </p:sp>
      <p:sp>
        <p:nvSpPr>
          <p:cNvPr id="12" name="">
            <a:extLst xmlns:a="http://schemas.openxmlformats.org/drawingml/2006/main">
              <a:ext uri="{FF2B5EF4-FFF2-40B4-BE49-F238E27FC236}">
                <a16:creationId xmlns:a16="http://schemas.microsoft.com/office/drawing/2014/main" id="{284B8F36-10EB-42E1-8AB1-2CB4B88DD1F1}"/>
              </a:ext>
            </a:extLst>
          </p:cNvPr>
          <p:cNvSpPr>
            <a:spLocks xmlns:a="http://schemas.openxmlformats.org/drawingml/2006/main" noGrp="1"/>
          </p:cNvSpPr>
          <p:nvPr/>
        </p:nvSpPr>
        <p:spPr>
          <a:xfrm xmlns:a="http://schemas.openxmlformats.org/drawingml/2006/main">
            <a:off x="1762125" y="5734050"/>
            <a:ext cx="933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7C6CA"/>
                </a:solidFill>
              </a:defRPr>
            </a:defPPr>
          </a:lstStyle>
          <a:p xmlns:a="http://schemas.openxmlformats.org/drawingml/2006/main">
            <a:pPr>
              <a:defRPr sz="1875" b="0">
                <a:solidFill>
                  <a:srgbClr val="B7C6CA"/>
                </a:solidFill>
              </a:defRPr>
            </a:pPr>
            <a:r>
              <a:rPr sz="1875" b="0">
                <a:solidFill>
                  <a:srgbClr val="B7C6CA"/>
                </a:solidFill>
              </a:rPr>
              <a:t>Show tool activity and require owner approval before finalization or sending.</a:t>
            </a:r>
          </a:p>
        </p:txBody>
      </p:sp>
    </p:spTree>
    <p:extLst>
      <p:ext uri="{BB962C8B-B14F-4D97-AF65-F5344CB8AC3E}">
        <p14:creationId xmlns:p14="http://schemas.microsoft.com/office/powerpoint/2010/main" val="536173882"/>
      </p:ext>
    </p:extLst>
  </p:cSld>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tgtEl>
                                    <p:spTgt spid="3"/>
                                  </p:tgtEl>
                                  <p:attrNameLst>
                                    <p:attrName>style.visibility</p:attrName>
                                  </p:attrNameLst>
                                </p:cBhvr>
                                <p:to>
                                  <p:strVal val="visible"/>
                                </p:to>
                              </p:set>
                            </p:childTnLst>
                          </p:cTn>
                        </p:par>
                      </p:childTnLst>
                    </p:cTn>
                  </p:par>
                  <p:par>
                    <p:cTn id="7" fill="hold">
                      <p:stCondLst>
                        <p:cond delay="indefinite"/>
                      </p:stCondLst>
                      <p:childTnLst>
                        <p:par>
                          <p:cTn id="8" presetID="1" presetClass="entr" presetSubtype="0" fill="hold" nodeType="clickEffect">
                            <p:stCondLst>
                              <p:cond delay="0"/>
                            </p:stCondLst>
                            <p:childTnLst>
                              <p:set>
                                <p:cBhvr>
                                  <p:cTn id="9" dur="1" fill="hold"/>
                                  <p:tgtEl>
                                    <p:spTgt spid="5"/>
                                  </p:tgtEl>
                                  <p:attrNameLst>
                                    <p:attrName>style.visibility</p:attrName>
                                  </p:attrNameLst>
                                </p:cBhvr>
                                <p:to>
                                  <p:strVal val="visible"/>
                                </p:to>
                              </p:set>
                            </p:childTnLst>
                          </p:cTn>
                        </p:par>
                      </p:childTnLst>
                    </p:cTn>
                  </p:par>
                  <p:par>
                    <p:cTn id="11" fill="hold">
                      <p:stCondLst>
                        <p:cond delay="indefinite"/>
                      </p:stCondLst>
                      <p:childTnLst>
                        <p:par>
                          <p:cTn id="12" presetID="1" presetClass="entr" presetSubtype="0" fill="hold" nodeType="clickEffect">
                            <p:stCondLst>
                              <p:cond delay="0"/>
                            </p:stCondLst>
                            <p:childTnLst>
                              <p:set>
                                <p:cBhvr>
                                  <p:cTn id="13" dur="1" fill="hold"/>
                                  <p:tgtEl>
                                    <p:spTgt spid="6"/>
                                  </p:tgtEl>
                                  <p:attrNameLst>
                                    <p:attrName>style.visibility</p:attrName>
                                  </p:attrNameLst>
                                </p:cBhvr>
                                <p:to>
                                  <p:strVal val="visible"/>
                                </p:to>
                              </p:set>
                            </p:childTnLst>
                          </p:cTn>
                        </p:par>
                      </p:childTnLst>
                    </p:cTn>
                  </p:par>
                  <p:par>
                    <p:cTn id="15" fill="hold">
                      <p:stCondLst>
                        <p:cond delay="indefinite"/>
                      </p:stCondLst>
                      <p:childTnLst>
                        <p:par>
                          <p:cTn id="16" presetID="1" presetClass="entr" presetSubtype="0" fill="hold" nodeType="clickEffect">
                            <p:stCondLst>
                              <p:cond delay="0"/>
                            </p:stCondLst>
                            <p:childTnLst>
                              <p:set>
                                <p:cBhvr>
                                  <p:cTn id="17" dur="1" fill="hold"/>
                                  <p:tgtEl>
                                    <p:spTgt spid="8"/>
                                  </p:tgtEl>
                                  <p:attrNameLst>
                                    <p:attrName>style.visibility</p:attrName>
                                  </p:attrNameLst>
                                </p:cBhvr>
                                <p:to>
                                  <p:strVal val="visible"/>
                                </p:to>
                              </p:set>
                            </p:childTnLst>
                          </p:cTn>
                        </p:par>
                      </p:childTnLst>
                    </p:cTn>
                  </p:par>
                  <p:par>
                    <p:cTn id="19" fill="hold">
                      <p:stCondLst>
                        <p:cond delay="indefinite"/>
                      </p:stCondLst>
                      <p:childTnLst>
                        <p:par>
                          <p:cTn id="20" presetID="1" presetClass="entr" presetSubtype="0" fill="hold" nodeType="clickEffect">
                            <p:stCondLst>
                              <p:cond delay="0"/>
                            </p:stCondLst>
                            <p:childTnLst>
                              <p:set>
                                <p:cBhvr>
                                  <p:cTn id="21" dur="1" fill="hold"/>
                                  <p:tgtEl>
                                    <p:spTgt spid="9"/>
                                  </p:tgtEl>
                                  <p:attrNameLst>
                                    <p:attrName>style.visibility</p:attrName>
                                  </p:attrNameLst>
                                </p:cBhvr>
                                <p:to>
                                  <p:strVal val="visible"/>
                                </p:to>
                              </p:set>
                            </p:childTnLst>
                          </p:cTn>
                        </p:par>
                      </p:childTnLst>
                    </p:cTn>
                  </p:par>
                  <p:par>
                    <p:cTn id="23" fill="hold">
                      <p:stCondLst>
                        <p:cond delay="indefinite"/>
                      </p:stCondLst>
                      <p:childTnLst>
                        <p:par>
                          <p:cTn id="24" presetID="1" presetClass="entr" presetSubtype="0" fill="hold" nodeType="clickEffect">
                            <p:stCondLst>
                              <p:cond delay="0"/>
                            </p:stCondLst>
                            <p:childTnLst>
                              <p:set>
                                <p:cBhvr>
                                  <p:cTn id="25" dur="1" fill="hold"/>
                                  <p:tgtEl>
                                    <p:spTgt spid="11"/>
                                  </p:tgtEl>
                                  <p:attrNameLst>
                                    <p:attrName>style.visibility</p:attrName>
                                  </p:attrNameLst>
                                </p:cBhvr>
                                <p:to>
                                  <p:strVal val="visible"/>
                                </p:to>
                              </p:set>
                            </p:childTnLst>
                          </p:cTn>
                        </p:par>
                      </p:childTnLst>
                    </p:cTn>
                  </p:par>
                  <p:par>
                    <p:cTn id="27" fill="hold">
                      <p:stCondLst>
                        <p:cond delay="indefinite"/>
                      </p:stCondLst>
                      <p:childTnLst>
                        <p:par>
                          <p:cTn id="28" presetID="1" presetClass="entr" presetSubtype="0" fill="hold" nodeType="clickEffect">
                            <p:stCondLst>
                              <p:cond delay="0"/>
                            </p:stCondLst>
                            <p:childTnLst>
                              <p:set>
                                <p:cBhvr>
                                  <p:cTn id="29" dur="1" fill="hold"/>
                                  <p:tgtEl>
                                    <p:spTgt spid="12"/>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p="http://schemas.openxmlformats.org/presentationml/2006/main">
  <p:cSld>
    <p:bg>
      <p:bgPr>
        <a:solidFill xmlns:a="http://schemas.openxmlformats.org/drawingml/2006/main">
          <a:srgbClr val="101E2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E9C38E7-93F1-44FB-86BF-FB6DFEE3D72F}"/>
              </a:ext>
            </a:extLst>
          </p:cNvPr>
          <p:cNvSpPr>
            <a:spLocks xmlns:a="http://schemas.openxmlformats.org/drawingml/2006/main" noGrp="1"/>
          </p:cNvSpPr>
          <p:nvPr/>
        </p:nvSpPr>
        <p:spPr>
          <a:xfrm xmlns:a="http://schemas.openxmlformats.org/drawingml/2006/main">
            <a:off x="11049000" y="60960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7C6CA"/>
                </a:solidFill>
              </a:defRPr>
            </a:defPPr>
          </a:lstStyle>
          <a:p xmlns:a="http://schemas.openxmlformats.org/drawingml/2006/main">
            <a:pPr>
              <a:defRPr sz="1350" b="0">
                <a:solidFill>
                  <a:srgbClr val="B7C6CA"/>
                </a:solidFill>
              </a:defRPr>
            </a:pPr>
            <a:r>
              <a:rPr sz="1350" b="0">
                <a:solidFill>
                  <a:srgbClr val="B7C6CA"/>
                </a:solidFill>
              </a:rPr>
              <a:t>04</a:t>
            </a:r>
          </a:p>
        </p:txBody>
      </p:sp>
      <p:sp>
        <p:nvSpPr>
          <p:cNvPr id="2" name="">
            <a:extLst xmlns:a="http://schemas.openxmlformats.org/drawingml/2006/main">
              <a:ext uri="{FF2B5EF4-FFF2-40B4-BE49-F238E27FC236}">
                <a16:creationId xmlns:a16="http://schemas.microsoft.com/office/drawing/2014/main" id="{C9A8CCF0-88E5-4456-87EC-F4EE171C6613}"/>
              </a:ext>
            </a:extLst>
          </p:cNvPr>
          <p:cNvSpPr>
            <a:spLocks xmlns:a="http://schemas.openxmlformats.org/drawingml/2006/main" noGrp="1"/>
          </p:cNvSpPr>
          <p:nvPr/>
        </p:nvSpPr>
        <p:spPr>
          <a:xfrm xmlns:a="http://schemas.openxmlformats.org/drawingml/2006/main">
            <a:off x="714375" y="6667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3F4ED"/>
                </a:solidFill>
              </a:defRPr>
            </a:defPPr>
          </a:lstStyle>
          <a:p xmlns:a="http://schemas.openxmlformats.org/drawingml/2006/main">
            <a:pPr>
              <a:defRPr sz="3450" b="1">
                <a:solidFill>
                  <a:srgbClr val="F3F4ED"/>
                </a:solidFill>
              </a:defRPr>
            </a:pPr>
            <a:r>
              <a:rPr sz="3450" b="1">
                <a:solidFill>
                  <a:srgbClr val="F3F4ED"/>
                </a:solidFill>
              </a:rPr>
              <a:t>Impact on the supplier</a:t>
            </a:r>
          </a:p>
        </p:txBody>
      </p:sp>
      <p:sp>
        <p:nvSpPr>
          <p:cNvPr id="3" name="">
            <a:extLst xmlns:a="http://schemas.openxmlformats.org/drawingml/2006/main">
              <a:ext uri="{FF2B5EF4-FFF2-40B4-BE49-F238E27FC236}">
                <a16:creationId xmlns:a16="http://schemas.microsoft.com/office/drawing/2014/main" id="{38801690-256D-4284-A61F-BBC0E2C3A371}"/>
              </a:ext>
            </a:extLst>
          </p:cNvPr>
          <p:cNvSpPr>
            <a:spLocks xmlns:a="http://schemas.openxmlformats.org/drawingml/2006/main" noGrp="1"/>
          </p:cNvSpPr>
          <p:nvPr/>
        </p:nvSpPr>
        <p:spPr>
          <a:xfrm xmlns:a="http://schemas.openxmlformats.org/drawingml/2006/main">
            <a:off x="742950" y="16668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7C6CA"/>
                </a:solidFill>
              </a:defRPr>
            </a:defPPr>
          </a:lstStyle>
          <a:p xmlns:a="http://schemas.openxmlformats.org/drawingml/2006/main">
            <a:pPr>
              <a:defRPr sz="1875" b="0">
                <a:solidFill>
                  <a:srgbClr val="B7C6CA"/>
                </a:solidFill>
              </a:defRPr>
            </a:pPr>
            <a:r>
              <a:rPr sz="1875" b="0">
                <a:solidFill>
                  <a:srgbClr val="B7C6CA"/>
                </a:solidFill>
              </a:rPr>
              <a:t>Less repetitive administration gives the owner more time for customers</a:t>
            </a:r>
          </a:p>
        </p:txBody>
      </p:sp>
      <p:sp>
        <p:nvSpPr>
          <p:cNvPr id="4" name="">
            <a:extLst xmlns:a="http://schemas.openxmlformats.org/drawingml/2006/main">
              <a:ext uri="{FF2B5EF4-FFF2-40B4-BE49-F238E27FC236}">
                <a16:creationId xmlns:a16="http://schemas.microsoft.com/office/drawing/2014/main" id="{0508B1ED-8BB8-44B5-81D7-2970B85F6AF0}"/>
              </a:ext>
            </a:extLst>
          </p:cNvPr>
          <p:cNvSpPr>
            <a:spLocks xmlns:a="http://schemas.openxmlformats.org/drawingml/2006/main" noGrp="1"/>
          </p:cNvSpPr>
          <p:nvPr/>
        </p:nvSpPr>
        <p:spPr>
          <a:xfrm xmlns:a="http://schemas.openxmlformats.org/drawingml/2006/main">
            <a:off x="742950" y="2667000"/>
            <a:ext cx="990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9FE5CA"/>
                </a:solidFill>
              </a:defRPr>
            </a:defPPr>
          </a:lstStyle>
          <a:p xmlns:a="http://schemas.openxmlformats.org/drawingml/2006/main">
            <a:pPr>
              <a:defRPr sz="2550" b="1">
                <a:solidFill>
                  <a:srgbClr val="9FE5CA"/>
                </a:solidFill>
              </a:defRPr>
            </a:pPr>
            <a:r>
              <a:rPr sz="2550" b="1">
                <a:solidFill>
                  <a:srgbClr val="9FE5CA"/>
                </a:solidFill>
              </a:rPr>
              <a:t>Faster quotation preparation</a:t>
            </a:r>
          </a:p>
        </p:txBody>
      </p:sp>
      <p:sp>
        <p:nvSpPr>
          <p:cNvPr id="5" name="">
            <a:extLst xmlns:a="http://schemas.openxmlformats.org/drawingml/2006/main">
              <a:ext uri="{FF2B5EF4-FFF2-40B4-BE49-F238E27FC236}">
                <a16:creationId xmlns:a16="http://schemas.microsoft.com/office/drawing/2014/main" id="{194DACB8-8438-4A21-8FFB-15E61810FB89}"/>
              </a:ext>
            </a:extLst>
          </p:cNvPr>
          <p:cNvSpPr>
            <a:spLocks xmlns:a="http://schemas.openxmlformats.org/drawingml/2006/main" noGrp="1"/>
          </p:cNvSpPr>
          <p:nvPr/>
        </p:nvSpPr>
        <p:spPr>
          <a:xfrm xmlns:a="http://schemas.openxmlformats.org/drawingml/2006/main">
            <a:off x="742950" y="328612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3F4ED"/>
                </a:solidFill>
              </a:defRPr>
            </a:defPPr>
          </a:lstStyle>
          <a:p xmlns:a="http://schemas.openxmlformats.org/drawingml/2006/main">
            <a:pPr>
              <a:defRPr sz="2100" b="0">
                <a:solidFill>
                  <a:srgbClr val="F3F4ED"/>
                </a:solidFill>
              </a:defRPr>
            </a:pPr>
            <a:r>
              <a:rPr sz="2100" b="0">
                <a:solidFill>
                  <a:srgbClr val="F3F4ED"/>
                </a:solidFill>
              </a:rPr>
              <a:t>Catalog and stock checks reduce repeated manual searching.</a:t>
            </a:r>
          </a:p>
        </p:txBody>
      </p:sp>
      <p:sp>
        <p:nvSpPr>
          <p:cNvPr id="6" name="">
            <a:extLst xmlns:a="http://schemas.openxmlformats.org/drawingml/2006/main">
              <a:ext uri="{FF2B5EF4-FFF2-40B4-BE49-F238E27FC236}">
                <a16:creationId xmlns:a16="http://schemas.microsoft.com/office/drawing/2014/main" id="{67F6E0E6-0EA1-4428-BF13-33BD7FB879E9}"/>
              </a:ext>
            </a:extLst>
          </p:cNvPr>
          <p:cNvSpPr>
            <a:spLocks xmlns:a="http://schemas.openxmlformats.org/drawingml/2006/main" noGrp="1"/>
          </p:cNvSpPr>
          <p:nvPr/>
        </p:nvSpPr>
        <p:spPr>
          <a:xfrm xmlns:a="http://schemas.openxmlformats.org/drawingml/2006/main">
            <a:off x="742950" y="4191000"/>
            <a:ext cx="990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9FE5CA"/>
                </a:solidFill>
              </a:defRPr>
            </a:defPPr>
          </a:lstStyle>
          <a:p xmlns:a="http://schemas.openxmlformats.org/drawingml/2006/main">
            <a:pPr>
              <a:defRPr sz="2550" b="1">
                <a:solidFill>
                  <a:srgbClr val="9FE5CA"/>
                </a:solidFill>
              </a:defRPr>
            </a:pPr>
            <a:r>
              <a:rPr sz="2550" b="1">
                <a:solidFill>
                  <a:srgbClr val="9FE5CA"/>
                </a:solidFill>
              </a:rPr>
              <a:t>More consistent quotation review</a:t>
            </a:r>
          </a:p>
        </p:txBody>
      </p:sp>
      <p:sp>
        <p:nvSpPr>
          <p:cNvPr id="7" name="">
            <a:extLst xmlns:a="http://schemas.openxmlformats.org/drawingml/2006/main">
              <a:ext uri="{FF2B5EF4-FFF2-40B4-BE49-F238E27FC236}">
                <a16:creationId xmlns:a16="http://schemas.microsoft.com/office/drawing/2014/main" id="{19C6AAAC-3A51-47C2-862A-45110A0629F7}"/>
              </a:ext>
            </a:extLst>
          </p:cNvPr>
          <p:cNvSpPr>
            <a:spLocks xmlns:a="http://schemas.openxmlformats.org/drawingml/2006/main" noGrp="1"/>
          </p:cNvSpPr>
          <p:nvPr/>
        </p:nvSpPr>
        <p:spPr>
          <a:xfrm xmlns:a="http://schemas.openxmlformats.org/drawingml/2006/main">
            <a:off x="742950" y="4810125"/>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3F4ED"/>
                </a:solidFill>
              </a:defRPr>
            </a:defPPr>
          </a:lstStyle>
          <a:p xmlns:a="http://schemas.openxmlformats.org/drawingml/2006/main">
            <a:pPr>
              <a:defRPr sz="2100" b="0">
                <a:solidFill>
                  <a:srgbClr val="F3F4ED"/>
                </a:solidFill>
              </a:defRPr>
            </a:pPr>
            <a:r>
              <a:rPr sz="2100" b="0">
                <a:solidFill>
                  <a:srgbClr val="F3F4ED"/>
                </a:solidFill>
              </a:rPr>
              <a:t>Code calculates totals. The owner checks the final draft.</a:t>
            </a:r>
          </a:p>
        </p:txBody>
      </p:sp>
      <p:sp>
        <p:nvSpPr>
          <p:cNvPr id="8" name="">
            <a:extLst xmlns:a="http://schemas.openxmlformats.org/drawingml/2006/main">
              <a:ext uri="{FF2B5EF4-FFF2-40B4-BE49-F238E27FC236}">
                <a16:creationId xmlns:a16="http://schemas.microsoft.com/office/drawing/2014/main" id="{5D99DC77-7F8A-4A32-8FD3-026197378323}"/>
              </a:ext>
            </a:extLst>
          </p:cNvPr>
          <p:cNvSpPr>
            <a:spLocks xmlns:a="http://schemas.openxmlformats.org/drawingml/2006/main" noGrp="1"/>
          </p:cNvSpPr>
          <p:nvPr/>
        </p:nvSpPr>
        <p:spPr>
          <a:xfrm xmlns:a="http://schemas.openxmlformats.org/drawingml/2006/main">
            <a:off x="742950" y="57626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7C6CA"/>
                </a:solidFill>
              </a:defRPr>
            </a:defPPr>
          </a:lstStyle>
          <a:p xmlns:a="http://schemas.openxmlformats.org/drawingml/2006/main">
            <a:pPr>
              <a:defRPr sz="1650" b="0">
                <a:solidFill>
                  <a:srgbClr val="B7C6CA"/>
                </a:solidFill>
              </a:defRPr>
            </a:pPr>
            <a:r>
              <a:rPr sz="1650" b="0">
                <a:solidFill>
                  <a:srgbClr val="B7C6CA"/>
                </a:solidFill>
              </a:rPr>
              <a:t>Measure time saved = manual time − agent time − owner review time.</a:t>
            </a:r>
          </a:p>
          <a:p xmlns:a="http://schemas.openxmlformats.org/drawingml/2006/main">
            <a:pPr>
              <a:defRPr sz="1650" b="0">
                <a:solidFill>
                  <a:srgbClr val="B7C6CA"/>
                </a:solidFill>
              </a:defRPr>
            </a:pPr>
            <a:r>
              <a:rPr sz="1650" b="0">
                <a:solidFill>
                  <a:srgbClr val="B7C6CA"/>
                </a:solidFill>
              </a:rPr>
              <a:t>No measured savings or revenue results supplied yet.</a:t>
            </a:r>
          </a:p>
        </p:txBody>
      </p:sp>
    </p:spTree>
    <p:extLst>
      <p:ext uri="{BB962C8B-B14F-4D97-AF65-F5344CB8AC3E}">
        <p14:creationId xmlns:p14="http://schemas.microsoft.com/office/powerpoint/2010/main" val="611806587"/>
      </p:ext>
    </p:extLst>
  </p:cSld>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tgtEl>
                                    <p:spTgt spid="3"/>
                                  </p:tgtEl>
                                  <p:attrNameLst>
                                    <p:attrName>style.visibility</p:attrName>
                                  </p:attrNameLst>
                                </p:cBhvr>
                                <p:to>
                                  <p:strVal val="visible"/>
                                </p:to>
                              </p:set>
                            </p:childTnLst>
                          </p:cTn>
                        </p:par>
                      </p:childTnLst>
                    </p:cTn>
                  </p:par>
                  <p:par>
                    <p:cTn id="7" fill="hold">
                      <p:stCondLst>
                        <p:cond delay="indefinite"/>
                      </p:stCondLst>
                      <p:childTnLst>
                        <p:par>
                          <p:cTn id="8" presetID="1" presetClass="entr" presetSubtype="0" fill="hold" nodeType="clickEffect">
                            <p:stCondLst>
                              <p:cond delay="0"/>
                            </p:stCondLst>
                            <p:childTnLst>
                              <p:set>
                                <p:cBhvr>
                                  <p:cTn id="9" dur="1" fill="hold"/>
                                  <p:tgtEl>
                                    <p:spTgt spid="4"/>
                                  </p:tgtEl>
                                  <p:attrNameLst>
                                    <p:attrName>style.visibility</p:attrName>
                                  </p:attrNameLst>
                                </p:cBhvr>
                                <p:to>
                                  <p:strVal val="visible"/>
                                </p:to>
                              </p:set>
                            </p:childTnLst>
                          </p:cTn>
                        </p:par>
                      </p:childTnLst>
                    </p:cTn>
                  </p:par>
                  <p:par>
                    <p:cTn id="11" fill="hold">
                      <p:stCondLst>
                        <p:cond delay="indefinite"/>
                      </p:stCondLst>
                      <p:childTnLst>
                        <p:par>
                          <p:cTn id="12" presetID="1" presetClass="entr" presetSubtype="0" fill="hold" nodeType="clickEffect">
                            <p:stCondLst>
                              <p:cond delay="0"/>
                            </p:stCondLst>
                            <p:childTnLst>
                              <p:set>
                                <p:cBhvr>
                                  <p:cTn id="13" dur="1" fill="hold"/>
                                  <p:tgtEl>
                                    <p:spTgt spid="5"/>
                                  </p:tgtEl>
                                  <p:attrNameLst>
                                    <p:attrName>style.visibility</p:attrName>
                                  </p:attrNameLst>
                                </p:cBhvr>
                                <p:to>
                                  <p:strVal val="visible"/>
                                </p:to>
                              </p:set>
                            </p:childTnLst>
                          </p:cTn>
                        </p:par>
                      </p:childTnLst>
                    </p:cTn>
                  </p:par>
                  <p:par>
                    <p:cTn id="15" fill="hold">
                      <p:stCondLst>
                        <p:cond delay="indefinite"/>
                      </p:stCondLst>
                      <p:childTnLst>
                        <p:par>
                          <p:cTn id="16" presetID="1" presetClass="entr" presetSubtype="0" fill="hold" nodeType="clickEffect">
                            <p:stCondLst>
                              <p:cond delay="0"/>
                            </p:stCondLst>
                            <p:childTnLst>
                              <p:set>
                                <p:cBhvr>
                                  <p:cTn id="17" dur="1" fill="hold"/>
                                  <p:tgtEl>
                                    <p:spTgt spid="6"/>
                                  </p:tgtEl>
                                  <p:attrNameLst>
                                    <p:attrName>style.visibility</p:attrName>
                                  </p:attrNameLst>
                                </p:cBhvr>
                                <p:to>
                                  <p:strVal val="visible"/>
                                </p:to>
                              </p:set>
                            </p:childTnLst>
                          </p:cTn>
                        </p:par>
                      </p:childTnLst>
                    </p:cTn>
                  </p:par>
                  <p:par>
                    <p:cTn id="19" fill="hold">
                      <p:stCondLst>
                        <p:cond delay="indefinite"/>
                      </p:stCondLst>
                      <p:childTnLst>
                        <p:par>
                          <p:cTn id="20" presetID="1" presetClass="entr" presetSubtype="0" fill="hold" nodeType="clickEffect">
                            <p:stCondLst>
                              <p:cond delay="0"/>
                            </p:stCondLst>
                            <p:childTnLst>
                              <p:set>
                                <p:cBhvr>
                                  <p:cTn id="21" dur="1" fill="hold"/>
                                  <p:tgtEl>
                                    <p:spTgt spid="7"/>
                                  </p:tgtEl>
                                  <p:attrNameLst>
                                    <p:attrName>style.visibility</p:attrName>
                                  </p:attrNameLst>
                                </p:cBhvr>
                                <p:to>
                                  <p:strVal val="visible"/>
                                </p:to>
                              </p:set>
                            </p:childTnLst>
                          </p:cTn>
                        </p:par>
                      </p:childTnLst>
                    </p:cTn>
                  </p:par>
                  <p:par>
                    <p:cTn id="23" fill="hold">
                      <p:stCondLst>
                        <p:cond delay="indefinite"/>
                      </p:stCondLst>
                      <p:childTnLst>
                        <p:par>
                          <p:cTn id="24" presetID="1" presetClass="entr" presetSubtype="0" fill="hold" nodeType="clickEffect">
                            <p:stCondLst>
                              <p:cond delay="0"/>
                            </p:stCondLst>
                            <p:childTnLst>
                              <p:set>
                                <p:cBhvr>
                                  <p:cTn id="25" dur="1" fill="hold"/>
                                  <p:tgtEl>
                                    <p:spTgt spid="8"/>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p="http://schemas.openxmlformats.org/presentationml/2006/main">
  <p:cSld>
    <p:bg>
      <p:bgPr>
        <a:solidFill xmlns:a="http://schemas.openxmlformats.org/drawingml/2006/main">
          <a:srgbClr val="101E2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65E673F-FF1E-4FD1-81E1-C26F6FFFDAAD}"/>
              </a:ext>
            </a:extLst>
          </p:cNvPr>
          <p:cNvSpPr>
            <a:spLocks xmlns:a="http://schemas.openxmlformats.org/drawingml/2006/main" noGrp="1"/>
          </p:cNvSpPr>
          <p:nvPr/>
        </p:nvSpPr>
        <p:spPr>
          <a:xfrm xmlns:a="http://schemas.openxmlformats.org/drawingml/2006/main">
            <a:off x="11049000" y="60960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7C6CA"/>
                </a:solidFill>
              </a:defRPr>
            </a:defPPr>
          </a:lstStyle>
          <a:p xmlns:a="http://schemas.openxmlformats.org/drawingml/2006/main">
            <a:pPr>
              <a:defRPr sz="1350" b="0">
                <a:solidFill>
                  <a:srgbClr val="B7C6CA"/>
                </a:solidFill>
              </a:defRPr>
            </a:pPr>
            <a:r>
              <a:rPr sz="1350" b="0">
                <a:solidFill>
                  <a:srgbClr val="B7C6CA"/>
                </a:solidFill>
              </a:rPr>
              <a:t>05</a:t>
            </a:r>
          </a:p>
        </p:txBody>
      </p:sp>
      <p:sp>
        <p:nvSpPr>
          <p:cNvPr id="2" name="">
            <a:extLst xmlns:a="http://schemas.openxmlformats.org/drawingml/2006/main">
              <a:ext uri="{FF2B5EF4-FFF2-40B4-BE49-F238E27FC236}">
                <a16:creationId xmlns:a16="http://schemas.microsoft.com/office/drawing/2014/main" id="{DABA31CA-71A2-4AD6-AFE0-A79BD288F0D2}"/>
              </a:ext>
            </a:extLst>
          </p:cNvPr>
          <p:cNvSpPr>
            <a:spLocks xmlns:a="http://schemas.openxmlformats.org/drawingml/2006/main" noGrp="1"/>
          </p:cNvSpPr>
          <p:nvPr/>
        </p:nvSpPr>
        <p:spPr>
          <a:xfrm xmlns:a="http://schemas.openxmlformats.org/drawingml/2006/main">
            <a:off x="714375" y="6667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3F4ED"/>
                </a:solidFill>
              </a:defRPr>
            </a:defPPr>
          </a:lstStyle>
          <a:p xmlns:a="http://schemas.openxmlformats.org/drawingml/2006/main">
            <a:pPr>
              <a:defRPr sz="3450" b="1">
                <a:solidFill>
                  <a:srgbClr val="F3F4ED"/>
                </a:solidFill>
              </a:defRPr>
            </a:pPr>
            <a:r>
              <a:rPr sz="3450" b="1">
                <a:solidFill>
                  <a:srgbClr val="F3F4ED"/>
                </a:solidFill>
              </a:rPr>
              <a:t>Live demo</a:t>
            </a:r>
          </a:p>
        </p:txBody>
      </p:sp>
      <p:sp>
        <p:nvSpPr>
          <p:cNvPr id="3" name="">
            <a:extLst xmlns:a="http://schemas.openxmlformats.org/drawingml/2006/main">
              <a:ext uri="{FF2B5EF4-FFF2-40B4-BE49-F238E27FC236}">
                <a16:creationId xmlns:a16="http://schemas.microsoft.com/office/drawing/2014/main" id="{175BBACE-F2EC-4DEB-A36C-17FFD339C7BA}"/>
              </a:ext>
            </a:extLst>
          </p:cNvPr>
          <p:cNvSpPr>
            <a:spLocks xmlns:a="http://schemas.openxmlformats.org/drawingml/2006/main" noGrp="1"/>
          </p:cNvSpPr>
          <p:nvPr/>
        </p:nvSpPr>
        <p:spPr>
          <a:xfrm xmlns:a="http://schemas.openxmlformats.org/drawingml/2006/main">
            <a:off x="742950" y="16668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7C6CA"/>
                </a:solidFill>
              </a:defRPr>
            </a:defPPr>
          </a:lstStyle>
          <a:p xmlns:a="http://schemas.openxmlformats.org/drawingml/2006/main">
            <a:pPr>
              <a:defRPr sz="1875" b="0">
                <a:solidFill>
                  <a:srgbClr val="B7C6CA"/>
                </a:solidFill>
              </a:defRPr>
            </a:pPr>
            <a:r>
              <a:rPr sz="1875" b="0">
                <a:solidFill>
                  <a:srgbClr val="B7C6CA"/>
                </a:solidFill>
              </a:rPr>
              <a:t>One inquiry through product checks and quotation review</a:t>
            </a:r>
          </a:p>
        </p:txBody>
      </p:sp>
      <p:sp>
        <p:nvSpPr>
          <p:cNvPr id="4" name="">
            <a:extLst xmlns:a="http://schemas.openxmlformats.org/drawingml/2006/main">
              <a:ext uri="{FF2B5EF4-FFF2-40B4-BE49-F238E27FC236}">
                <a16:creationId xmlns:a16="http://schemas.microsoft.com/office/drawing/2014/main" id="{B99CC697-882D-4590-992A-DE195E7BBED2}"/>
              </a:ext>
            </a:extLst>
          </p:cNvPr>
          <p:cNvSpPr>
            <a:spLocks xmlns:a="http://schemas.openxmlformats.org/drawingml/2006/main" noGrp="1"/>
          </p:cNvSpPr>
          <p:nvPr/>
        </p:nvSpPr>
        <p:spPr>
          <a:xfrm xmlns:a="http://schemas.openxmlformats.org/drawingml/2006/main">
            <a:off x="742950" y="252412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9FE5CA"/>
                </a:solidFill>
              </a:defRPr>
            </a:defPPr>
          </a:lstStyle>
          <a:p xmlns:a="http://schemas.openxmlformats.org/drawingml/2006/main">
            <a:pPr>
              <a:defRPr sz="3000" b="1">
                <a:solidFill>
                  <a:srgbClr val="9FE5CA"/>
                </a:solidFill>
              </a:defRPr>
            </a:pPr>
            <a:r>
              <a:rPr sz="3000" b="1">
                <a:solidFill>
                  <a:srgbClr val="9FE5CA"/>
                </a:solidFill>
              </a:rPr>
              <a:t>01</a:t>
            </a:r>
          </a:p>
        </p:txBody>
      </p:sp>
      <p:sp>
        <p:nvSpPr>
          <p:cNvPr id="5" name="">
            <a:extLst xmlns:a="http://schemas.openxmlformats.org/drawingml/2006/main">
              <a:ext uri="{FF2B5EF4-FFF2-40B4-BE49-F238E27FC236}">
                <a16:creationId xmlns:a16="http://schemas.microsoft.com/office/drawing/2014/main" id="{A4D1E35F-737B-42CA-B436-5CE80ABDA8E3}"/>
              </a:ext>
            </a:extLst>
          </p:cNvPr>
          <p:cNvSpPr>
            <a:spLocks xmlns:a="http://schemas.openxmlformats.org/drawingml/2006/main" noGrp="1"/>
          </p:cNvSpPr>
          <p:nvPr/>
        </p:nvSpPr>
        <p:spPr>
          <a:xfrm xmlns:a="http://schemas.openxmlformats.org/drawingml/2006/main">
            <a:off x="1762125" y="2524125"/>
            <a:ext cx="933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F3F4ED"/>
                </a:solidFill>
              </a:defRPr>
            </a:defPPr>
          </a:lstStyle>
          <a:p xmlns:a="http://schemas.openxmlformats.org/drawingml/2006/main">
            <a:pPr>
              <a:defRPr sz="2250" b="1">
                <a:solidFill>
                  <a:srgbClr val="F3F4ED"/>
                </a:solidFill>
              </a:defRPr>
            </a:pPr>
            <a:r>
              <a:rPr sz="2250" b="1">
                <a:solidFill>
                  <a:srgbClr val="F3F4ED"/>
                </a:solidFill>
              </a:rPr>
              <a:t>Open the workspace and sign in</a:t>
            </a:r>
          </a:p>
        </p:txBody>
      </p:sp>
      <p:sp>
        <p:nvSpPr>
          <p:cNvPr id="6" name="">
            <a:extLst xmlns:a="http://schemas.openxmlformats.org/drawingml/2006/main">
              <a:ext uri="{FF2B5EF4-FFF2-40B4-BE49-F238E27FC236}">
                <a16:creationId xmlns:a16="http://schemas.microsoft.com/office/drawing/2014/main" id="{215F5C8A-1FBC-4C02-AC33-258299864303}"/>
              </a:ext>
            </a:extLst>
          </p:cNvPr>
          <p:cNvSpPr>
            <a:spLocks xmlns:a="http://schemas.openxmlformats.org/drawingml/2006/main" noGrp="1"/>
          </p:cNvSpPr>
          <p:nvPr/>
        </p:nvSpPr>
        <p:spPr>
          <a:xfrm xmlns:a="http://schemas.openxmlformats.org/drawingml/2006/main">
            <a:off x="1762125" y="3019425"/>
            <a:ext cx="933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7C6CA"/>
                </a:solidFill>
              </a:defRPr>
            </a:defPPr>
          </a:lstStyle>
          <a:p xmlns:a="http://schemas.openxmlformats.org/drawingml/2006/main">
            <a:pPr>
              <a:defRPr sz="1875" b="0">
                <a:solidFill>
                  <a:srgbClr val="B7C6CA"/>
                </a:solidFill>
              </a:defRPr>
            </a:pPr>
            <a:r>
              <a:rPr sz="1875" b="0">
                <a:solidFill>
                  <a:srgbClr val="B7C6CA"/>
                </a:solidFill>
              </a:rPr>
              <a:t>Use an available catalog item and clearly label sample data.</a:t>
            </a:r>
          </a:p>
        </p:txBody>
      </p:sp>
      <p:sp>
        <p:nvSpPr>
          <p:cNvPr id="7" name="">
            <a:extLst xmlns:a="http://schemas.openxmlformats.org/drawingml/2006/main">
              <a:ext uri="{FF2B5EF4-FFF2-40B4-BE49-F238E27FC236}">
                <a16:creationId xmlns:a16="http://schemas.microsoft.com/office/drawing/2014/main" id="{20DFABCF-CC11-4A7D-B551-8BC89C209C64}"/>
              </a:ext>
            </a:extLst>
          </p:cNvPr>
          <p:cNvSpPr>
            <a:spLocks xmlns:a="http://schemas.openxmlformats.org/drawingml/2006/main" noGrp="1"/>
          </p:cNvSpPr>
          <p:nvPr/>
        </p:nvSpPr>
        <p:spPr>
          <a:xfrm xmlns:a="http://schemas.openxmlformats.org/drawingml/2006/main">
            <a:off x="742950" y="376237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9FE5CA"/>
                </a:solidFill>
              </a:defRPr>
            </a:defPPr>
          </a:lstStyle>
          <a:p xmlns:a="http://schemas.openxmlformats.org/drawingml/2006/main">
            <a:pPr>
              <a:defRPr sz="3000" b="1">
                <a:solidFill>
                  <a:srgbClr val="9FE5CA"/>
                </a:solidFill>
              </a:defRPr>
            </a:pPr>
            <a:r>
              <a:rPr sz="3000" b="1">
                <a:solidFill>
                  <a:srgbClr val="9FE5CA"/>
                </a:solidFill>
              </a:rPr>
              <a:t>02</a:t>
            </a:r>
          </a:p>
        </p:txBody>
      </p:sp>
      <p:sp>
        <p:nvSpPr>
          <p:cNvPr id="8" name="">
            <a:extLst xmlns:a="http://schemas.openxmlformats.org/drawingml/2006/main">
              <a:ext uri="{FF2B5EF4-FFF2-40B4-BE49-F238E27FC236}">
                <a16:creationId xmlns:a16="http://schemas.microsoft.com/office/drawing/2014/main" id="{004ACABC-8E3E-45BA-893D-01CB7C858A40}"/>
              </a:ext>
            </a:extLst>
          </p:cNvPr>
          <p:cNvSpPr>
            <a:spLocks xmlns:a="http://schemas.openxmlformats.org/drawingml/2006/main" noGrp="1"/>
          </p:cNvSpPr>
          <p:nvPr/>
        </p:nvSpPr>
        <p:spPr>
          <a:xfrm xmlns:a="http://schemas.openxmlformats.org/drawingml/2006/main">
            <a:off x="1762125" y="3762375"/>
            <a:ext cx="933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F3F4ED"/>
                </a:solidFill>
              </a:defRPr>
            </a:defPPr>
          </a:lstStyle>
          <a:p xmlns:a="http://schemas.openxmlformats.org/drawingml/2006/main">
            <a:pPr>
              <a:defRPr sz="2250" b="1">
                <a:solidFill>
                  <a:srgbClr val="F3F4ED"/>
                </a:solidFill>
              </a:defRPr>
            </a:pPr>
            <a:r>
              <a:rPr sz="2250" b="1">
                <a:solidFill>
                  <a:srgbClr val="F3F4ED"/>
                </a:solidFill>
              </a:rPr>
              <a:t>Run a customer inquiry</a:t>
            </a:r>
          </a:p>
        </p:txBody>
      </p:sp>
      <p:sp>
        <p:nvSpPr>
          <p:cNvPr id="9" name="">
            <a:extLst xmlns:a="http://schemas.openxmlformats.org/drawingml/2006/main">
              <a:ext uri="{FF2B5EF4-FFF2-40B4-BE49-F238E27FC236}">
                <a16:creationId xmlns:a16="http://schemas.microsoft.com/office/drawing/2014/main" id="{629242CD-0B78-4344-96AD-0BB5811EC30F}"/>
              </a:ext>
            </a:extLst>
          </p:cNvPr>
          <p:cNvSpPr>
            <a:spLocks xmlns:a="http://schemas.openxmlformats.org/drawingml/2006/main" noGrp="1"/>
          </p:cNvSpPr>
          <p:nvPr/>
        </p:nvSpPr>
        <p:spPr>
          <a:xfrm xmlns:a="http://schemas.openxmlformats.org/drawingml/2006/main">
            <a:off x="1762125" y="4257675"/>
            <a:ext cx="933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7C6CA"/>
                </a:solidFill>
              </a:defRPr>
            </a:defPPr>
          </a:lstStyle>
          <a:p xmlns:a="http://schemas.openxmlformats.org/drawingml/2006/main">
            <a:pPr>
              <a:defRPr sz="1875" b="0">
                <a:solidFill>
                  <a:srgbClr val="B7C6CA"/>
                </a:solidFill>
              </a:defRPr>
            </a:pPr>
            <a:r>
              <a:rPr sz="1875" b="0">
                <a:solidFill>
                  <a:srgbClr val="B7C6CA"/>
                </a:solidFill>
              </a:rPr>
              <a:t>“Please quote 10 units of MCB 1P 16A and confirm stock.”</a:t>
            </a:r>
          </a:p>
        </p:txBody>
      </p:sp>
      <p:sp>
        <p:nvSpPr>
          <p:cNvPr id="10" name="">
            <a:extLst xmlns:a="http://schemas.openxmlformats.org/drawingml/2006/main">
              <a:ext uri="{FF2B5EF4-FFF2-40B4-BE49-F238E27FC236}">
                <a16:creationId xmlns:a16="http://schemas.microsoft.com/office/drawing/2014/main" id="{788FBD01-0E31-4E2D-A8F8-989000A23A67}"/>
              </a:ext>
            </a:extLst>
          </p:cNvPr>
          <p:cNvSpPr>
            <a:spLocks xmlns:a="http://schemas.openxmlformats.org/drawingml/2006/main" noGrp="1"/>
          </p:cNvSpPr>
          <p:nvPr/>
        </p:nvSpPr>
        <p:spPr>
          <a:xfrm xmlns:a="http://schemas.openxmlformats.org/drawingml/2006/main">
            <a:off x="742950" y="500062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9FE5CA"/>
                </a:solidFill>
              </a:defRPr>
            </a:defPPr>
          </a:lstStyle>
          <a:p xmlns:a="http://schemas.openxmlformats.org/drawingml/2006/main">
            <a:pPr>
              <a:defRPr sz="3000" b="1">
                <a:solidFill>
                  <a:srgbClr val="9FE5CA"/>
                </a:solidFill>
              </a:defRPr>
            </a:pPr>
            <a:r>
              <a:rPr sz="3000" b="1">
                <a:solidFill>
                  <a:srgbClr val="9FE5CA"/>
                </a:solidFill>
              </a:rPr>
              <a:t>03</a:t>
            </a:r>
          </a:p>
        </p:txBody>
      </p:sp>
      <p:sp>
        <p:nvSpPr>
          <p:cNvPr id="11" name="">
            <a:extLst xmlns:a="http://schemas.openxmlformats.org/drawingml/2006/main">
              <a:ext uri="{FF2B5EF4-FFF2-40B4-BE49-F238E27FC236}">
                <a16:creationId xmlns:a16="http://schemas.microsoft.com/office/drawing/2014/main" id="{32C0CAF6-A457-4C2C-B807-18A00CEDD86D}"/>
              </a:ext>
            </a:extLst>
          </p:cNvPr>
          <p:cNvSpPr>
            <a:spLocks xmlns:a="http://schemas.openxmlformats.org/drawingml/2006/main" noGrp="1"/>
          </p:cNvSpPr>
          <p:nvPr/>
        </p:nvSpPr>
        <p:spPr>
          <a:xfrm xmlns:a="http://schemas.openxmlformats.org/drawingml/2006/main">
            <a:off x="1762125" y="5000625"/>
            <a:ext cx="933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F3F4ED"/>
                </a:solidFill>
              </a:defRPr>
            </a:defPPr>
          </a:lstStyle>
          <a:p xmlns:a="http://schemas.openxmlformats.org/drawingml/2006/main">
            <a:pPr>
              <a:defRPr sz="2250" b="1">
                <a:solidFill>
                  <a:srgbClr val="F3F4ED"/>
                </a:solidFill>
              </a:defRPr>
            </a:pPr>
            <a:r>
              <a:rPr sz="2250" b="1">
                <a:solidFill>
                  <a:srgbClr val="F3F4ED"/>
                </a:solidFill>
              </a:rPr>
              <a:t>Review tool activity and the draft</a:t>
            </a:r>
          </a:p>
        </p:txBody>
      </p:sp>
      <p:sp>
        <p:nvSpPr>
          <p:cNvPr id="12" name="">
            <a:extLst xmlns:a="http://schemas.openxmlformats.org/drawingml/2006/main">
              <a:ext uri="{FF2B5EF4-FFF2-40B4-BE49-F238E27FC236}">
                <a16:creationId xmlns:a16="http://schemas.microsoft.com/office/drawing/2014/main" id="{80F74567-18F1-473F-B2A8-62281CF3CD2F}"/>
              </a:ext>
            </a:extLst>
          </p:cNvPr>
          <p:cNvSpPr>
            <a:spLocks xmlns:a="http://schemas.openxmlformats.org/drawingml/2006/main" noGrp="1"/>
          </p:cNvSpPr>
          <p:nvPr/>
        </p:nvSpPr>
        <p:spPr>
          <a:xfrm xmlns:a="http://schemas.openxmlformats.org/drawingml/2006/main">
            <a:off x="1762125" y="5495925"/>
            <a:ext cx="933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7C6CA"/>
                </a:solidFill>
              </a:defRPr>
            </a:defPPr>
          </a:lstStyle>
          <a:p xmlns:a="http://schemas.openxmlformats.org/drawingml/2006/main">
            <a:pPr>
              <a:defRPr sz="1875" b="0">
                <a:solidFill>
                  <a:srgbClr val="B7C6CA"/>
                </a:solidFill>
              </a:defRPr>
            </a:pPr>
            <a:r>
              <a:rPr sz="1875" b="0">
                <a:solidFill>
                  <a:srgbClr val="B7C6CA"/>
                </a:solidFill>
              </a:rPr>
              <a:t>Check product matches, availability, totals and owner approval.</a:t>
            </a:r>
          </a:p>
        </p:txBody>
      </p:sp>
      <p:sp>
        <p:nvSpPr>
          <p:cNvPr id="13" name="">
            <a:extLst xmlns:a="http://schemas.openxmlformats.org/drawingml/2006/main">
              <a:ext uri="{FF2B5EF4-FFF2-40B4-BE49-F238E27FC236}">
                <a16:creationId xmlns:a16="http://schemas.microsoft.com/office/drawing/2014/main" id="{7919B865-7CD7-49A3-A94D-0B3064B67A67}"/>
              </a:ext>
            </a:extLst>
          </p:cNvPr>
          <p:cNvSpPr>
            <a:spLocks xmlns:a="http://schemas.openxmlformats.org/drawingml/2006/main" noGrp="1"/>
          </p:cNvSpPr>
          <p:nvPr/>
        </p:nvSpPr>
        <p:spPr>
          <a:xfrm xmlns:a="http://schemas.openxmlformats.org/drawingml/2006/main">
            <a:off x="1762125" y="61912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FE5CA"/>
                </a:solidFill>
              </a:defRPr>
            </a:defPPr>
          </a:lstStyle>
          <a:p xmlns:a="http://schemas.openxmlformats.org/drawingml/2006/main">
            <a:pPr>
              <a:defRPr sz="1725" b="0">
                <a:solidFill>
                  <a:srgbClr val="9FE5CA"/>
                </a:solidFill>
              </a:defRPr>
            </a:pPr>
            <a:r>
              <a:rPr sz="1725" b="0">
                <a:solidFill>
                  <a:srgbClr val="9FE5CA"/>
                </a:solidFill>
              </a:rPr>
              <a:t>quotepilotagent.lovable.app</a:t>
            </a:r>
          </a:p>
        </p:txBody>
      </p:sp>
    </p:spTree>
    <p:extLst>
      <p:ext uri="{BB962C8B-B14F-4D97-AF65-F5344CB8AC3E}">
        <p14:creationId xmlns:p14="http://schemas.microsoft.com/office/powerpoint/2010/main" val="1986473114"/>
      </p:ext>
    </p:extLst>
  </p:cSld>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tgtEl>
                                    <p:spTgt spid="3"/>
                                  </p:tgtEl>
                                  <p:attrNameLst>
                                    <p:attrName>style.visibility</p:attrName>
                                  </p:attrNameLst>
                                </p:cBhvr>
                                <p:to>
                                  <p:strVal val="visible"/>
                                </p:to>
                              </p:set>
                            </p:childTnLst>
                          </p:cTn>
                        </p:par>
                      </p:childTnLst>
                    </p:cTn>
                  </p:par>
                  <p:par>
                    <p:cTn id="7" fill="hold">
                      <p:stCondLst>
                        <p:cond delay="indefinite"/>
                      </p:stCondLst>
                      <p:childTnLst>
                        <p:par>
                          <p:cTn id="8" presetID="1" presetClass="entr" presetSubtype="0" fill="hold" nodeType="clickEffect">
                            <p:stCondLst>
                              <p:cond delay="0"/>
                            </p:stCondLst>
                            <p:childTnLst>
                              <p:set>
                                <p:cBhvr>
                                  <p:cTn id="9" dur="1" fill="hold"/>
                                  <p:tgtEl>
                                    <p:spTgt spid="5"/>
                                  </p:tgtEl>
                                  <p:attrNameLst>
                                    <p:attrName>style.visibility</p:attrName>
                                  </p:attrNameLst>
                                </p:cBhvr>
                                <p:to>
                                  <p:strVal val="visible"/>
                                </p:to>
                              </p:set>
                            </p:childTnLst>
                          </p:cTn>
                        </p:par>
                      </p:childTnLst>
                    </p:cTn>
                  </p:par>
                  <p:par>
                    <p:cTn id="11" fill="hold">
                      <p:stCondLst>
                        <p:cond delay="indefinite"/>
                      </p:stCondLst>
                      <p:childTnLst>
                        <p:par>
                          <p:cTn id="12" presetID="1" presetClass="entr" presetSubtype="0" fill="hold" nodeType="clickEffect">
                            <p:stCondLst>
                              <p:cond delay="0"/>
                            </p:stCondLst>
                            <p:childTnLst>
                              <p:set>
                                <p:cBhvr>
                                  <p:cTn id="13" dur="1" fill="hold"/>
                                  <p:tgtEl>
                                    <p:spTgt spid="6"/>
                                  </p:tgtEl>
                                  <p:attrNameLst>
                                    <p:attrName>style.visibility</p:attrName>
                                  </p:attrNameLst>
                                </p:cBhvr>
                                <p:to>
                                  <p:strVal val="visible"/>
                                </p:to>
                              </p:set>
                            </p:childTnLst>
                          </p:cTn>
                        </p:par>
                      </p:childTnLst>
                    </p:cTn>
                  </p:par>
                  <p:par>
                    <p:cTn id="15" fill="hold">
                      <p:stCondLst>
                        <p:cond delay="indefinite"/>
                      </p:stCondLst>
                      <p:childTnLst>
                        <p:par>
                          <p:cTn id="16" presetID="1" presetClass="entr" presetSubtype="0" fill="hold" nodeType="clickEffect">
                            <p:stCondLst>
                              <p:cond delay="0"/>
                            </p:stCondLst>
                            <p:childTnLst>
                              <p:set>
                                <p:cBhvr>
                                  <p:cTn id="17" dur="1" fill="hold"/>
                                  <p:tgtEl>
                                    <p:spTgt spid="8"/>
                                  </p:tgtEl>
                                  <p:attrNameLst>
                                    <p:attrName>style.visibility</p:attrName>
                                  </p:attrNameLst>
                                </p:cBhvr>
                                <p:to>
                                  <p:strVal val="visible"/>
                                </p:to>
                              </p:set>
                            </p:childTnLst>
                          </p:cTn>
                        </p:par>
                      </p:childTnLst>
                    </p:cTn>
                  </p:par>
                  <p:par>
                    <p:cTn id="19" fill="hold">
                      <p:stCondLst>
                        <p:cond delay="indefinite"/>
                      </p:stCondLst>
                      <p:childTnLst>
                        <p:par>
                          <p:cTn id="20" presetID="1" presetClass="entr" presetSubtype="0" fill="hold" nodeType="clickEffect">
                            <p:stCondLst>
                              <p:cond delay="0"/>
                            </p:stCondLst>
                            <p:childTnLst>
                              <p:set>
                                <p:cBhvr>
                                  <p:cTn id="21" dur="1" fill="hold"/>
                                  <p:tgtEl>
                                    <p:spTgt spid="9"/>
                                  </p:tgtEl>
                                  <p:attrNameLst>
                                    <p:attrName>style.visibility</p:attrName>
                                  </p:attrNameLst>
                                </p:cBhvr>
                                <p:to>
                                  <p:strVal val="visible"/>
                                </p:to>
                              </p:set>
                            </p:childTnLst>
                          </p:cTn>
                        </p:par>
                      </p:childTnLst>
                    </p:cTn>
                  </p:par>
                  <p:par>
                    <p:cTn id="23" fill="hold">
                      <p:stCondLst>
                        <p:cond delay="indefinite"/>
                      </p:stCondLst>
                      <p:childTnLst>
                        <p:par>
                          <p:cTn id="24" presetID="1" presetClass="entr" presetSubtype="0" fill="hold" nodeType="clickEffect">
                            <p:stCondLst>
                              <p:cond delay="0"/>
                            </p:stCondLst>
                            <p:childTnLst>
                              <p:set>
                                <p:cBhvr>
                                  <p:cTn id="25" dur="1" fill="hold"/>
                                  <p:tgtEl>
                                    <p:spTgt spid="11"/>
                                  </p:tgtEl>
                                  <p:attrNameLst>
                                    <p:attrName>style.visibility</p:attrName>
                                  </p:attrNameLst>
                                </p:cBhvr>
                                <p:to>
                                  <p:strVal val="visible"/>
                                </p:to>
                              </p:set>
                            </p:childTnLst>
                          </p:cTn>
                        </p:par>
                      </p:childTnLst>
                    </p:cTn>
                  </p:par>
                  <p:par>
                    <p:cTn id="27" fill="hold">
                      <p:stCondLst>
                        <p:cond delay="indefinite"/>
                      </p:stCondLst>
                      <p:childTnLst>
                        <p:par>
                          <p:cTn id="28" presetID="1" presetClass="entr" presetSubtype="0" fill="hold" nodeType="clickEffect">
                            <p:stCondLst>
                              <p:cond delay="0"/>
                            </p:stCondLst>
                            <p:childTnLst>
                              <p:set>
                                <p:cBhvr>
                                  <p:cTn id="29" dur="1" fill="hold"/>
                                  <p:tgtEl>
                                    <p:spTgt spid="12"/>
                                  </p:tgtEl>
                                  <p:attrNameLst>
                                    <p:attrName>style.visibility</p:attrName>
                                  </p:attrNameLst>
                                </p:cBhvr>
                                <p:to>
                                  <p:strVal val="visible"/>
                                </p:to>
                              </p:set>
                            </p:childTnLst>
                          </p:cTn>
                        </p:par>
                      </p:childTnLst>
                    </p:cTn>
                  </p:par>
                  <p:par>
                    <p:cTn id="31" fill="hold">
                      <p:stCondLst>
                        <p:cond delay="indefinite"/>
                      </p:stCondLst>
                      <p:childTnLst>
                        <p:par>
                          <p:cTn id="32" presetID="1" presetClass="entr" presetSubtype="0" fill="hold" nodeType="clickEffect">
                            <p:stCondLst>
                              <p:cond delay="0"/>
                            </p:stCondLst>
                            <p:childTnLst>
                              <p:set>
                                <p:cBhvr>
                                  <p:cTn id="33" dur="1" fill="hold"/>
                                  <p:tgtEl>
                                    <p:spTgt spid="13"/>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p="http://schemas.openxmlformats.org/presentationml/2006/main">
  <p:cSld>
    <p:bg>
      <p:bgPr>
        <a:solidFill xmlns:a="http://schemas.openxmlformats.org/drawingml/2006/main">
          <a:srgbClr val="101E2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8778837-0FCC-48F0-8BBB-2BB0FD79404F}"/>
              </a:ext>
            </a:extLst>
          </p:cNvPr>
          <p:cNvSpPr>
            <a:spLocks xmlns:a="http://schemas.openxmlformats.org/drawingml/2006/main" noGrp="1"/>
          </p:cNvSpPr>
          <p:nvPr/>
        </p:nvSpPr>
        <p:spPr>
          <a:xfrm xmlns:a="http://schemas.openxmlformats.org/drawingml/2006/main">
            <a:off x="11049000" y="60960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7C6CA"/>
                </a:solidFill>
              </a:defRPr>
            </a:defPPr>
          </a:lstStyle>
          <a:p xmlns:a="http://schemas.openxmlformats.org/drawingml/2006/main">
            <a:pPr>
              <a:defRPr sz="1350" b="0">
                <a:solidFill>
                  <a:srgbClr val="B7C6CA"/>
                </a:solidFill>
              </a:defRPr>
            </a:pPr>
            <a:r>
              <a:rPr sz="1350" b="0">
                <a:solidFill>
                  <a:srgbClr val="B7C6CA"/>
                </a:solidFill>
              </a:rPr>
              <a:t>06</a:t>
            </a:r>
          </a:p>
        </p:txBody>
      </p:sp>
      <p:sp>
        <p:nvSpPr>
          <p:cNvPr id="2" name="">
            <a:extLst xmlns:a="http://schemas.openxmlformats.org/drawingml/2006/main">
              <a:ext uri="{FF2B5EF4-FFF2-40B4-BE49-F238E27FC236}">
                <a16:creationId xmlns:a16="http://schemas.microsoft.com/office/drawing/2014/main" id="{B88A82E6-938E-4234-9B6B-00DD45ACF545}"/>
              </a:ext>
            </a:extLst>
          </p:cNvPr>
          <p:cNvSpPr>
            <a:spLocks xmlns:a="http://schemas.openxmlformats.org/drawingml/2006/main" noGrp="1"/>
          </p:cNvSpPr>
          <p:nvPr/>
        </p:nvSpPr>
        <p:spPr>
          <a:xfrm xmlns:a="http://schemas.openxmlformats.org/drawingml/2006/main">
            <a:off x="714375" y="6667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3F4ED"/>
                </a:solidFill>
              </a:defRPr>
            </a:defPPr>
          </a:lstStyle>
          <a:p xmlns:a="http://schemas.openxmlformats.org/drawingml/2006/main">
            <a:pPr>
              <a:defRPr sz="3450" b="1">
                <a:solidFill>
                  <a:srgbClr val="F3F4ED"/>
                </a:solidFill>
              </a:defRPr>
            </a:pPr>
            <a:r>
              <a:rPr sz="3450" b="1">
                <a:solidFill>
                  <a:srgbClr val="F3F4ED"/>
                </a:solidFill>
              </a:rPr>
              <a:t>Thank you &amp; questions</a:t>
            </a:r>
          </a:p>
        </p:txBody>
      </p:sp>
      <p:sp>
        <p:nvSpPr>
          <p:cNvPr id="3" name="">
            <a:extLst xmlns:a="http://schemas.openxmlformats.org/drawingml/2006/main">
              <a:ext uri="{FF2B5EF4-FFF2-40B4-BE49-F238E27FC236}">
                <a16:creationId xmlns:a16="http://schemas.microsoft.com/office/drawing/2014/main" id="{6A069AC8-A6F6-433B-902E-89F610662D6F}"/>
              </a:ext>
            </a:extLst>
          </p:cNvPr>
          <p:cNvSpPr>
            <a:spLocks xmlns:a="http://schemas.openxmlformats.org/drawingml/2006/main" noGrp="1"/>
          </p:cNvSpPr>
          <p:nvPr/>
        </p:nvSpPr>
        <p:spPr>
          <a:xfrm xmlns:a="http://schemas.openxmlformats.org/drawingml/2006/main">
            <a:off x="742950" y="2190750"/>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9FE5CA"/>
                </a:solidFill>
              </a:defRPr>
            </a:defPPr>
          </a:lstStyle>
          <a:p xmlns:a="http://schemas.openxmlformats.org/drawingml/2006/main">
            <a:pPr>
              <a:defRPr sz="4050" b="1">
                <a:solidFill>
                  <a:srgbClr val="9FE5CA"/>
                </a:solidFill>
              </a:defRPr>
            </a:pPr>
            <a:r>
              <a:rPr sz="4050" b="1">
                <a:solidFill>
                  <a:srgbClr val="9FE5CA"/>
                </a:solidFill>
              </a:rPr>
              <a:t>QuotePilot</a:t>
            </a:r>
          </a:p>
        </p:txBody>
      </p:sp>
      <p:sp>
        <p:nvSpPr>
          <p:cNvPr id="4" name="">
            <a:extLst xmlns:a="http://schemas.openxmlformats.org/drawingml/2006/main">
              <a:ext uri="{FF2B5EF4-FFF2-40B4-BE49-F238E27FC236}">
                <a16:creationId xmlns:a16="http://schemas.microsoft.com/office/drawing/2014/main" id="{0B963EFC-B0D7-4C6D-A1D6-C8E742F4E391}"/>
              </a:ext>
            </a:extLst>
          </p:cNvPr>
          <p:cNvSpPr>
            <a:spLocks xmlns:a="http://schemas.openxmlformats.org/drawingml/2006/main" noGrp="1"/>
          </p:cNvSpPr>
          <p:nvPr/>
        </p:nvSpPr>
        <p:spPr>
          <a:xfrm xmlns:a="http://schemas.openxmlformats.org/drawingml/2006/main">
            <a:off x="742950" y="3333750"/>
            <a:ext cx="904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3F4ED"/>
                </a:solidFill>
              </a:defRPr>
            </a:defPPr>
          </a:lstStyle>
          <a:p xmlns:a="http://schemas.openxmlformats.org/drawingml/2006/main">
            <a:pPr>
              <a:defRPr sz="2550" b="0">
                <a:solidFill>
                  <a:srgbClr val="F3F4ED"/>
                </a:solidFill>
              </a:defRPr>
            </a:pPr>
            <a:r>
              <a:rPr sz="2550" b="0">
                <a:solidFill>
                  <a:srgbClr val="F3F4ED"/>
                </a:solidFill>
              </a:rPr>
              <a:t>Hossam Elshahaby</a:t>
            </a:r>
          </a:p>
        </p:txBody>
      </p:sp>
      <p:sp>
        <p:nvSpPr>
          <p:cNvPr id="5" name="">
            <a:extLst xmlns:a="http://schemas.openxmlformats.org/drawingml/2006/main">
              <a:ext uri="{FF2B5EF4-FFF2-40B4-BE49-F238E27FC236}">
                <a16:creationId xmlns:a16="http://schemas.microsoft.com/office/drawing/2014/main" id="{1F169A6A-3440-421E-BA63-C304C93B1B81}"/>
              </a:ext>
            </a:extLst>
          </p:cNvPr>
          <p:cNvSpPr>
            <a:spLocks xmlns:a="http://schemas.openxmlformats.org/drawingml/2006/main" noGrp="1"/>
          </p:cNvSpPr>
          <p:nvPr/>
        </p:nvSpPr>
        <p:spPr>
          <a:xfrm xmlns:a="http://schemas.openxmlformats.org/drawingml/2006/main">
            <a:off x="742950" y="43338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3F4ED"/>
                </a:solidFill>
              </a:defRPr>
            </a:defPPr>
          </a:lstStyle>
          <a:p xmlns:a="http://schemas.openxmlformats.org/drawingml/2006/main">
            <a:pPr>
              <a:defRPr sz="2175" b="0">
                <a:solidFill>
                  <a:srgbClr val="F3F4ED"/>
                </a:solidFill>
              </a:defRPr>
            </a:pPr>
            <a:r>
              <a:rPr sz="2175" b="0">
                <a:solidFill>
                  <a:srgbClr val="F3F4ED"/>
                </a:solidFill>
              </a:rPr>
              <a:t>Arabic / English quotation support for small suppliers</a:t>
            </a:r>
          </a:p>
        </p:txBody>
      </p:sp>
      <p:sp>
        <p:nvSpPr>
          <p:cNvPr id="6" name="">
            <a:extLst xmlns:a="http://schemas.openxmlformats.org/drawingml/2006/main">
              <a:ext uri="{FF2B5EF4-FFF2-40B4-BE49-F238E27FC236}">
                <a16:creationId xmlns:a16="http://schemas.microsoft.com/office/drawing/2014/main" id="{33B6AB6C-8945-41AB-B4B1-83C98BB88142}"/>
              </a:ext>
            </a:extLst>
          </p:cNvPr>
          <p:cNvSpPr>
            <a:spLocks xmlns:a="http://schemas.openxmlformats.org/drawingml/2006/main" noGrp="1"/>
          </p:cNvSpPr>
          <p:nvPr/>
        </p:nvSpPr>
        <p:spPr>
          <a:xfrm xmlns:a="http://schemas.openxmlformats.org/drawingml/2006/main">
            <a:off x="742950" y="552450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3F4ED"/>
                </a:solidFill>
              </a:defRPr>
            </a:defPPr>
          </a:lstStyle>
          <a:p xmlns:a="http://schemas.openxmlformats.org/drawingml/2006/main">
            <a:pPr>
              <a:defRPr sz="2250" b="0">
                <a:solidFill>
                  <a:srgbClr val="F3F4ED"/>
                </a:solidFill>
              </a:defRPr>
            </a:pPr>
            <a:r>
              <a:rPr sz="2250" b="0">
                <a:solidFill>
                  <a:srgbClr val="F3F4ED"/>
                </a:solidFill>
              </a:rPr>
              <a:t>quotepilotagent.lovable.app</a:t>
            </a:r>
          </a:p>
        </p:txBody>
      </p:sp>
    </p:spTree>
    <p:extLst>
      <p:ext uri="{BB962C8B-B14F-4D97-AF65-F5344CB8AC3E}">
        <p14:creationId xmlns:p14="http://schemas.microsoft.com/office/powerpoint/2010/main" val="1622212196"/>
      </p:ext>
    </p:extLst>
  </p:cSld>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tgtEl>
                                    <p:spTgt spid="3"/>
                                  </p:tgtEl>
                                  <p:attrNameLst>
                                    <p:attrName>style.visibility</p:attrName>
                                  </p:attrNameLst>
                                </p:cBhvr>
                                <p:to>
                                  <p:strVal val="visible"/>
                                </p:to>
                              </p:set>
                            </p:childTnLst>
                          </p:cTn>
                        </p:par>
                      </p:childTnLst>
                    </p:cTn>
                  </p:par>
                  <p:par>
                    <p:cTn id="7" fill="hold">
                      <p:stCondLst>
                        <p:cond delay="indefinite"/>
                      </p:stCondLst>
                      <p:childTnLst>
                        <p:par>
                          <p:cTn id="8" presetID="1" presetClass="entr" presetSubtype="0" fill="hold" nodeType="clickEffect">
                            <p:stCondLst>
                              <p:cond delay="0"/>
                            </p:stCondLst>
                            <p:childTnLst>
                              <p:set>
                                <p:cBhvr>
                                  <p:cTn id="9" dur="1" fill="hold"/>
                                  <p:tgtEl>
                                    <p:spTgt spid="4"/>
                                  </p:tgtEl>
                                  <p:attrNameLst>
                                    <p:attrName>style.visibility</p:attrName>
                                  </p:attrNameLst>
                                </p:cBhvr>
                                <p:to>
                                  <p:strVal val="visible"/>
                                </p:to>
                              </p:set>
                            </p:childTnLst>
                          </p:cTn>
                        </p:par>
                      </p:childTnLst>
                    </p:cTn>
                  </p:par>
                  <p:par>
                    <p:cTn id="11" fill="hold">
                      <p:stCondLst>
                        <p:cond delay="indefinite"/>
                      </p:stCondLst>
                      <p:childTnLst>
                        <p:par>
                          <p:cTn id="12" presetID="1" presetClass="entr" presetSubtype="0" fill="hold" nodeType="clickEffect">
                            <p:stCondLst>
                              <p:cond delay="0"/>
                            </p:stCondLst>
                            <p:childTnLst>
                              <p:set>
                                <p:cBhvr>
                                  <p:cTn id="13" dur="1" fill="hold"/>
                                  <p:tgtEl>
                                    <p:spTgt spid="5"/>
                                  </p:tgtEl>
                                  <p:attrNameLst>
                                    <p:attrName>style.visibility</p:attrName>
                                  </p:attrNameLst>
                                </p:cBhvr>
                                <p:to>
                                  <p:strVal val="visible"/>
                                </p:to>
                              </p:set>
                            </p:childTnLst>
                          </p:cTn>
                        </p:par>
                      </p:childTnLst>
                    </p:cTn>
                  </p:par>
                  <p:par>
                    <p:cTn id="15" fill="hold">
                      <p:stCondLst>
                        <p:cond delay="indefinite"/>
                      </p:stCondLst>
                      <p:childTnLst>
                        <p:par>
                          <p:cTn id="16" presetID="1" presetClass="entr" presetSubtype="0" fill="hold" nodeType="clickEffect">
                            <p:stCondLst>
                              <p:cond delay="0"/>
                            </p:stCondLst>
                            <p:childTnLst>
                              <p:set>
                                <p:cBhvr>
                                  <p:cTn id="17" dur="1" fill="hold"/>
                                  <p:tgtEl>
                                    <p:spTgt spid="6"/>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2026-10-10T15:25:17.3180000Z</dcterms:created>
  <dcterms:modified xsi:type="dcterms:W3CDTF">2026-10-10T15:25:17.3180000Z</dcterms:modified>
</coreProperties>
</file>